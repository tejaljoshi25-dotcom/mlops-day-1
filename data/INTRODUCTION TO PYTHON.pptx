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79" r:id="rId3"/>
    <p:sldId id="278" r:id="rId4"/>
    <p:sldId id="311" r:id="rId5"/>
    <p:sldId id="256" r:id="rId7"/>
    <p:sldId id="257" r:id="rId8"/>
    <p:sldId id="258" r:id="rId9"/>
    <p:sldId id="262" r:id="rId10"/>
    <p:sldId id="285" r:id="rId11"/>
    <p:sldId id="292" r:id="rId12"/>
    <p:sldId id="286" r:id="rId13"/>
    <p:sldId id="277" r:id="rId14"/>
    <p:sldId id="287" r:id="rId15"/>
    <p:sldId id="290" r:id="rId16"/>
    <p:sldId id="267" r:id="rId17"/>
    <p:sldId id="268" r:id="rId18"/>
    <p:sldId id="269" r:id="rId19"/>
    <p:sldId id="261" r:id="rId20"/>
    <p:sldId id="276" r:id="rId21"/>
    <p:sldId id="274" r:id="rId22"/>
    <p:sldId id="275" r:id="rId23"/>
    <p:sldId id="259" r:id="rId24"/>
    <p:sldId id="270" r:id="rId25"/>
    <p:sldId id="260" r:id="rId26"/>
    <p:sldId id="266" r:id="rId27"/>
    <p:sldId id="263" r:id="rId28"/>
    <p:sldId id="264" r:id="rId29"/>
    <p:sldId id="273" r:id="rId30"/>
    <p:sldId id="271" r:id="rId31"/>
    <p:sldId id="272" r:id="rId32"/>
    <p:sldId id="294" r:id="rId33"/>
    <p:sldId id="295" r:id="rId34"/>
    <p:sldId id="26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08" r:id="rId48"/>
    <p:sldId id="310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97CBAA-50A8-4593-A3A5-E9322492E0B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ED60D5-5063-4444-A3D5-58DC0482BCF3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en-US" b="1" i="1" dirty="0"/>
            <a:t>A text editor that is specialized for writing programs.</a:t>
          </a:r>
          <a:endParaRPr lang="en-US" dirty="0"/>
        </a:p>
      </dgm:t>
    </dgm:pt>
    <dgm:pt modelId="{4BF889A7-A673-494D-9F30-86F04587574F}" cxnId="{27049FA9-E661-4640-B58B-8602450F0AFF}" type="parTrans">
      <dgm:prSet/>
      <dgm:spPr/>
      <dgm:t>
        <a:bodyPr/>
        <a:lstStyle/>
        <a:p>
          <a:endParaRPr lang="en-US"/>
        </a:p>
      </dgm:t>
    </dgm:pt>
    <dgm:pt modelId="{F628BCA6-9859-4467-AABF-16A09D2EA1C5}" cxnId="{27049FA9-E661-4640-B58B-8602450F0AFF}" type="sibTrans">
      <dgm:prSet/>
      <dgm:spPr/>
      <dgm:t>
        <a:bodyPr/>
        <a:lstStyle/>
        <a:p>
          <a:endParaRPr lang="en-US"/>
        </a:p>
      </dgm:t>
    </dgm:pt>
    <dgm:pt modelId="{A7E9D3A1-A0FC-4C0D-96C9-C90D5E226C4E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en-US" b="1" i="1" dirty="0"/>
            <a:t>It does not provide a lot of features like an IDE</a:t>
          </a:r>
          <a:endParaRPr lang="en-US" dirty="0"/>
        </a:p>
      </dgm:t>
    </dgm:pt>
    <dgm:pt modelId="{53912F32-EAC0-4462-B2CB-694A43999305}" cxnId="{C4CA7A99-7D85-4B0F-889B-E51547BBFBBC}" type="parTrans">
      <dgm:prSet/>
      <dgm:spPr/>
      <dgm:t>
        <a:bodyPr/>
        <a:lstStyle/>
        <a:p>
          <a:endParaRPr lang="en-US"/>
        </a:p>
      </dgm:t>
    </dgm:pt>
    <dgm:pt modelId="{FDA9B783-9C60-450D-8567-95AB98D5803F}" cxnId="{C4CA7A99-7D85-4B0F-889B-E51547BBFBBC}" type="sibTrans">
      <dgm:prSet/>
      <dgm:spPr/>
      <dgm:t>
        <a:bodyPr/>
        <a:lstStyle/>
        <a:p>
          <a:endParaRPr lang="en-US"/>
        </a:p>
      </dgm:t>
    </dgm:pt>
    <dgm:pt modelId="{6F45ED12-25F1-4608-AAC4-0C1F6570634F}" type="pres">
      <dgm:prSet presAssocID="{0697CBAA-50A8-4593-A3A5-E9322492E0B6}" presName="linear" presStyleCnt="0">
        <dgm:presLayoutVars>
          <dgm:animLvl val="lvl"/>
          <dgm:resizeHandles val="exact"/>
        </dgm:presLayoutVars>
      </dgm:prSet>
      <dgm:spPr/>
    </dgm:pt>
    <dgm:pt modelId="{32CBA417-F6FE-4101-8AF0-4F8AD429ACEC}" type="pres">
      <dgm:prSet presAssocID="{EFED60D5-5063-4444-A3D5-58DC0482BCF3}" presName="parentText" presStyleLbl="node1" presStyleIdx="0" presStyleCnt="2" custLinFactY="-25244" custLinFactNeighborY="-100000">
        <dgm:presLayoutVars>
          <dgm:chMax val="0"/>
          <dgm:bulletEnabled val="1"/>
        </dgm:presLayoutVars>
      </dgm:prSet>
      <dgm:spPr/>
    </dgm:pt>
    <dgm:pt modelId="{BB139184-8BC9-46F8-BE16-AB685D5A6186}" type="pres">
      <dgm:prSet presAssocID="{F628BCA6-9859-4467-AABF-16A09D2EA1C5}" presName="spacer" presStyleCnt="0"/>
      <dgm:spPr/>
    </dgm:pt>
    <dgm:pt modelId="{3C41D582-B5A7-42B3-8158-05A401B3BAE5}" type="pres">
      <dgm:prSet presAssocID="{A7E9D3A1-A0FC-4C0D-96C9-C90D5E226C4E}" presName="parentText" presStyleLbl="node1" presStyleIdx="1" presStyleCnt="2" custLinFactY="34508" custLinFactNeighborY="100000">
        <dgm:presLayoutVars>
          <dgm:chMax val="0"/>
          <dgm:bulletEnabled val="1"/>
        </dgm:presLayoutVars>
      </dgm:prSet>
      <dgm:spPr/>
    </dgm:pt>
  </dgm:ptLst>
  <dgm:cxnLst>
    <dgm:cxn modelId="{76454093-C2F9-4A7E-A6DD-06D5898429B7}" type="presOf" srcId="{0697CBAA-50A8-4593-A3A5-E9322492E0B6}" destId="{6F45ED12-25F1-4608-AAC4-0C1F6570634F}" srcOrd="0" destOrd="0" presId="urn:microsoft.com/office/officeart/2005/8/layout/vList2"/>
    <dgm:cxn modelId="{C4CA7A99-7D85-4B0F-889B-E51547BBFBBC}" srcId="{0697CBAA-50A8-4593-A3A5-E9322492E0B6}" destId="{A7E9D3A1-A0FC-4C0D-96C9-C90D5E226C4E}" srcOrd="1" destOrd="0" parTransId="{53912F32-EAC0-4462-B2CB-694A43999305}" sibTransId="{FDA9B783-9C60-450D-8567-95AB98D5803F}"/>
    <dgm:cxn modelId="{27049FA9-E661-4640-B58B-8602450F0AFF}" srcId="{0697CBAA-50A8-4593-A3A5-E9322492E0B6}" destId="{EFED60D5-5063-4444-A3D5-58DC0482BCF3}" srcOrd="0" destOrd="0" parTransId="{4BF889A7-A673-494D-9F30-86F04587574F}" sibTransId="{F628BCA6-9859-4467-AABF-16A09D2EA1C5}"/>
    <dgm:cxn modelId="{E740D7B3-BED5-41C3-832D-523D850149A2}" type="presOf" srcId="{A7E9D3A1-A0FC-4C0D-96C9-C90D5E226C4E}" destId="{3C41D582-B5A7-42B3-8158-05A401B3BAE5}" srcOrd="0" destOrd="0" presId="urn:microsoft.com/office/officeart/2005/8/layout/vList2"/>
    <dgm:cxn modelId="{E9B2D0E5-2994-4532-A5DD-938A2C35D787}" type="presOf" srcId="{EFED60D5-5063-4444-A3D5-58DC0482BCF3}" destId="{32CBA417-F6FE-4101-8AF0-4F8AD429ACEC}" srcOrd="0" destOrd="0" presId="urn:microsoft.com/office/officeart/2005/8/layout/vList2"/>
    <dgm:cxn modelId="{FE6A5E86-A981-4D59-817A-4AE591AA42FE}" type="presParOf" srcId="{6F45ED12-25F1-4608-AAC4-0C1F6570634F}" destId="{32CBA417-F6FE-4101-8AF0-4F8AD429ACEC}" srcOrd="0" destOrd="0" presId="urn:microsoft.com/office/officeart/2005/8/layout/vList2"/>
    <dgm:cxn modelId="{8D869C92-8DC2-4B65-938A-532642B91EAD}" type="presParOf" srcId="{6F45ED12-25F1-4608-AAC4-0C1F6570634F}" destId="{BB139184-8BC9-46F8-BE16-AB685D5A6186}" srcOrd="1" destOrd="0" presId="urn:microsoft.com/office/officeart/2005/8/layout/vList2"/>
    <dgm:cxn modelId="{03D12D78-8E3D-4A12-B755-42F75F87D2A6}" type="presParOf" srcId="{6F45ED12-25F1-4608-AAC4-0C1F6570634F}" destId="{3C41D582-B5A7-42B3-8158-05A401B3BAE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8305800" cy="3200400"/>
        <a:chOff x="0" y="0"/>
        <a:chExt cx="8305800" cy="3200400"/>
      </a:xfrm>
    </dsp:grpSpPr>
    <dsp:sp modelId="{32CBA417-F6FE-4101-8AF0-4F8AD429ACEC}">
      <dsp:nvSpPr>
        <dsp:cNvPr id="3" name="Rounded Rectangle 2"/>
        <dsp:cNvSpPr/>
      </dsp:nvSpPr>
      <dsp:spPr bwMode="white">
        <a:xfrm>
          <a:off x="0" y="0"/>
          <a:ext cx="8305800" cy="1525905"/>
        </a:xfrm>
        <a:prstGeom prst="roundRect">
          <a:avLst/>
        </a:prstGeom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lIns="137160" tIns="137160" rIns="137160" bIns="137160" anchor="ctr"/>
        <a:lstStyle>
          <a:lvl1pPr algn="l">
            <a:defRPr sz="3600"/>
          </a:lvl1pPr>
          <a:lvl2pPr marL="285750" indent="-285750" algn="l">
            <a:defRPr sz="2800"/>
          </a:lvl2pPr>
          <a:lvl3pPr marL="571500" indent="-285750" algn="l">
            <a:defRPr sz="2800"/>
          </a:lvl3pPr>
          <a:lvl4pPr marL="857250" indent="-285750" algn="l">
            <a:defRPr sz="2800"/>
          </a:lvl4pPr>
          <a:lvl5pPr marL="1143000" indent="-285750" algn="l">
            <a:defRPr sz="2800"/>
          </a:lvl5pPr>
          <a:lvl6pPr marL="1428750" indent="-285750" algn="l">
            <a:defRPr sz="2800"/>
          </a:lvl6pPr>
          <a:lvl7pPr marL="1714500" indent="-285750" algn="l">
            <a:defRPr sz="2800"/>
          </a:lvl7pPr>
          <a:lvl8pPr marL="2000250" indent="-285750" algn="l">
            <a:defRPr sz="2800"/>
          </a:lvl8pPr>
          <a:lvl9pPr marL="2286000" indent="-285750" algn="l">
            <a:defRPr sz="28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1" dirty="0"/>
            <a:t>A text editor that is specialized for writing programs.</a:t>
          </a:r>
          <a:endParaRPr lang="en-US" dirty="0"/>
        </a:p>
      </dsp:txBody>
      <dsp:txXfrm>
        <a:off x="0" y="0"/>
        <a:ext cx="8305800" cy="1525905"/>
      </dsp:txXfrm>
    </dsp:sp>
    <dsp:sp modelId="{3C41D582-B5A7-42B3-8158-05A401B3BAE5}">
      <dsp:nvSpPr>
        <dsp:cNvPr id="4" name="Rounded Rectangle 3"/>
        <dsp:cNvSpPr/>
      </dsp:nvSpPr>
      <dsp:spPr bwMode="white">
        <a:xfrm>
          <a:off x="0" y="1674495"/>
          <a:ext cx="8305800" cy="1525905"/>
        </a:xfrm>
        <a:prstGeom prst="roundRect">
          <a:avLst/>
        </a:prstGeom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lIns="137160" tIns="137160" rIns="137160" bIns="137160" anchor="ctr"/>
        <a:lstStyle>
          <a:lvl1pPr algn="l">
            <a:defRPr sz="3600"/>
          </a:lvl1pPr>
          <a:lvl2pPr marL="285750" indent="-285750" algn="l">
            <a:defRPr sz="2800"/>
          </a:lvl2pPr>
          <a:lvl3pPr marL="571500" indent="-285750" algn="l">
            <a:defRPr sz="2800"/>
          </a:lvl3pPr>
          <a:lvl4pPr marL="857250" indent="-285750" algn="l">
            <a:defRPr sz="2800"/>
          </a:lvl4pPr>
          <a:lvl5pPr marL="1143000" indent="-285750" algn="l">
            <a:defRPr sz="2800"/>
          </a:lvl5pPr>
          <a:lvl6pPr marL="1428750" indent="-285750" algn="l">
            <a:defRPr sz="2800"/>
          </a:lvl6pPr>
          <a:lvl7pPr marL="1714500" indent="-285750" algn="l">
            <a:defRPr sz="2800"/>
          </a:lvl7pPr>
          <a:lvl8pPr marL="2000250" indent="-285750" algn="l">
            <a:defRPr sz="2800"/>
          </a:lvl8pPr>
          <a:lvl9pPr marL="2286000" indent="-285750" algn="l">
            <a:defRPr sz="28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1" dirty="0"/>
            <a:t>It does not provide a lot of features like an IDE</a:t>
          </a:r>
          <a:endParaRPr lang="en-US" dirty="0"/>
        </a:p>
      </dsp:txBody>
      <dsp:txXfrm>
        <a:off x="0" y="1674495"/>
        <a:ext cx="8305800" cy="15259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FF21E-2AF8-45A9-B1B4-C4847D0AE246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79449B-C96B-40A9-8E9A-6345452247F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9449B-C96B-40A9-8E9A-6345452247F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79449B-C96B-40A9-8E9A-6345452247F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79449B-C96B-40A9-8E9A-6345452247F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79449B-C96B-40A9-8E9A-6345452247F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79449B-C96B-40A9-8E9A-6345452247F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49E86-EB1F-48FF-A04A-3A4AD6160AB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021E2-1C57-4F64-BA84-7240583D4FD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49E86-EB1F-48FF-A04A-3A4AD6160AB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021E2-1C57-4F64-BA84-7240583D4FD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49E86-EB1F-48FF-A04A-3A4AD6160AB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021E2-1C57-4F64-BA84-7240583D4FD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49E86-EB1F-48FF-A04A-3A4AD6160ABE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021E2-1C57-4F64-BA84-7240583D4FD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49E86-EB1F-48FF-A04A-3A4AD6160ABE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021E2-1C57-4F64-BA84-7240583D4FD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49E86-EB1F-48FF-A04A-3A4AD6160ABE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021E2-1C57-4F64-BA84-7240583D4FD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49E86-EB1F-48FF-A04A-3A4AD6160ABE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021E2-1C57-4F64-BA84-7240583D4FD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49E86-EB1F-48FF-A04A-3A4AD6160ABE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021E2-1C57-4F64-BA84-7240583D4FD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49E86-EB1F-48FF-A04A-3A4AD6160ABE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021E2-1C57-4F64-BA84-7240583D4FD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49E86-EB1F-48FF-A04A-3A4AD6160AB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021E2-1C57-4F64-BA84-7240583D4FD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49E86-EB1F-48FF-A04A-3A4AD6160AB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021E2-1C57-4F64-BA84-7240583D4FD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49E86-EB1F-48FF-A04A-3A4AD6160AB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E021E2-1C57-4F64-BA84-7240583D4FDC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hyperlink" Target="https://en.wikipedia.org/wiki/ABC_(programming_language)" TargetMode="External"/><Relationship Id="rId1" Type="http://schemas.openxmlformats.org/officeDocument/2006/relationships/hyperlink" Target="https://en.wikipedia.org/wiki/Guido_van_Rossum" TargetMode="Externa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https://en.wikipedia.org/wiki/Off-side_rule" TargetMode="External"/><Relationship Id="rId3" Type="http://schemas.openxmlformats.org/officeDocument/2006/relationships/hyperlink" Target="https://en.wikipedia.org/wiki/Code_readability" TargetMode="External"/><Relationship Id="rId2" Type="http://schemas.openxmlformats.org/officeDocument/2006/relationships/hyperlink" Target="https://en.wikipedia.org/wiki/General-purpose_programming_language" TargetMode="External"/><Relationship Id="rId1" Type="http://schemas.openxmlformats.org/officeDocument/2006/relationships/hyperlink" Target="https://en.wikipedia.org/wiki/High-level_programming_language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hyperlink" Target="https://en.wikipedia.org/wiki/Query_language" TargetMode="External"/><Relationship Id="rId7" Type="http://schemas.openxmlformats.org/officeDocument/2006/relationships/hyperlink" Target="https://en.wikipedia.org/wiki/SQL" TargetMode="External"/><Relationship Id="rId6" Type="http://schemas.openxmlformats.org/officeDocument/2006/relationships/hyperlink" Target="https://en.wikipedia.org/wiki/Python_(programming_language)" TargetMode="External"/><Relationship Id="rId5" Type="http://schemas.openxmlformats.org/officeDocument/2006/relationships/hyperlink" Target="https://en.wikipedia.org/wiki/Domain-specific_programming_language" TargetMode="External"/><Relationship Id="rId4" Type="http://schemas.openxmlformats.org/officeDocument/2006/relationships/hyperlink" Target="https://en.wikipedia.org/wiki/Domain_(software_engineering)" TargetMode="External"/><Relationship Id="rId3" Type="http://schemas.openxmlformats.org/officeDocument/2006/relationships/hyperlink" Target="https://en.wikipedia.org/wiki/Software" TargetMode="External"/><Relationship Id="rId2" Type="http://schemas.openxmlformats.org/officeDocument/2006/relationships/hyperlink" Target="https://en.wikipedia.org/wiki/Programming_language" TargetMode="External"/><Relationship Id="rId10" Type="http://schemas.openxmlformats.org/officeDocument/2006/relationships/slideLayout" Target="../slideLayouts/slideLayout1.xml"/><Relationship Id="rId1" Type="http://schemas.openxmlformats.org/officeDocument/2006/relationships/hyperlink" Target="https://en.wikipedia.org/wiki/Computer_software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10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11.jpe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12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10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10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13.jpe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10.jpeg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.png"/><Relationship Id="rId7" Type="http://schemas.openxmlformats.org/officeDocument/2006/relationships/image" Target="../media/image20.jpeg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openxmlformats.org/officeDocument/2006/relationships/image" Target="../media/image22.jpeg"/><Relationship Id="rId1" Type="http://schemas.openxmlformats.org/officeDocument/2006/relationships/image" Target="../media/image21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image" Target="../media/image30.svg"/><Relationship Id="rId7" Type="http://schemas.openxmlformats.org/officeDocument/2006/relationships/image" Target="../media/image29.jpeg"/><Relationship Id="rId6" Type="http://schemas.openxmlformats.org/officeDocument/2006/relationships/image" Target="../media/image28.svg"/><Relationship Id="rId5" Type="http://schemas.openxmlformats.org/officeDocument/2006/relationships/image" Target="../media/image27.jpeg"/><Relationship Id="rId4" Type="http://schemas.openxmlformats.org/officeDocument/2006/relationships/image" Target="../media/image26.svg"/><Relationship Id="rId3" Type="http://schemas.openxmlformats.org/officeDocument/2006/relationships/image" Target="../media/image25.jpeg"/><Relationship Id="rId2" Type="http://schemas.openxmlformats.org/officeDocument/2006/relationships/image" Target="../media/image24.sv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23.jpeg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image" Target="../media/image30.svg"/><Relationship Id="rId7" Type="http://schemas.openxmlformats.org/officeDocument/2006/relationships/image" Target="../media/image29.jpeg"/><Relationship Id="rId6" Type="http://schemas.openxmlformats.org/officeDocument/2006/relationships/image" Target="../media/image28.svg"/><Relationship Id="rId5" Type="http://schemas.openxmlformats.org/officeDocument/2006/relationships/image" Target="../media/image27.jpeg"/><Relationship Id="rId4" Type="http://schemas.openxmlformats.org/officeDocument/2006/relationships/image" Target="../media/image26.svg"/><Relationship Id="rId3" Type="http://schemas.openxmlformats.org/officeDocument/2006/relationships/image" Target="../media/image25.jpeg"/><Relationship Id="rId2" Type="http://schemas.openxmlformats.org/officeDocument/2006/relationships/image" Target="../media/image24.sv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23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audio1.wav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0"/>
            <a:ext cx="7620000" cy="1524000"/>
          </a:xfrm>
        </p:spPr>
        <p:txBody>
          <a:bodyPr>
            <a:noAutofit/>
          </a:bodyPr>
          <a:lstStyle/>
          <a:p>
            <a:r>
              <a:rPr lang="en-IN" sz="6000" b="1" dirty="0">
                <a:solidFill>
                  <a:srgbClr val="FF0000"/>
                </a:solidFill>
              </a:rPr>
              <a:t>WELCOME AT</a:t>
            </a:r>
            <a:endParaRPr lang="en-IN" sz="6000" b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0" y="2667000"/>
            <a:ext cx="5257800" cy="21695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2286000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sz="6000" b="1" dirty="0"/>
              <a:t>WELCOME TO </a:t>
            </a:r>
            <a:br>
              <a:rPr lang="en-IN" sz="6000" b="1" dirty="0"/>
            </a:br>
            <a:r>
              <a:rPr lang="en-IN" sz="6000" b="1" dirty="0">
                <a:solidFill>
                  <a:schemeClr val="accent5"/>
                </a:solidFill>
              </a:rPr>
              <a:t> </a:t>
            </a:r>
            <a:r>
              <a:rPr lang="en-IN" sz="6000" b="1" dirty="0"/>
              <a:t>:</a:t>
            </a:r>
            <a:br>
              <a:rPr lang="en-IN" sz="6000" b="1" dirty="0"/>
            </a:br>
            <a:r>
              <a:rPr lang="en-IN" sz="6000" b="1" dirty="0"/>
              <a:t>A world-class </a:t>
            </a:r>
            <a:br>
              <a:rPr lang="en-IN" sz="6000" b="1" dirty="0"/>
            </a:br>
            <a:r>
              <a:rPr lang="en-IN" sz="6000" b="1" dirty="0"/>
              <a:t>skill-development &amp; research institute</a:t>
            </a:r>
            <a:endParaRPr lang="en-IN" sz="60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2133600"/>
            <a:ext cx="1905000" cy="6743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1561"/>
            <a:ext cx="9144000" cy="68088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971800"/>
            <a:ext cx="7772400" cy="16764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INTRODUCTION</a:t>
            </a:r>
            <a:r>
              <a:rPr lang="en-US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TO PYTHON</a:t>
            </a:r>
            <a:endParaRPr lang="en-US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8430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4000" b="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11430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orbel" panose="020B0503020204020204" pitchFamily="34" charset="0"/>
                <a:ea typeface="Verdana" panose="020B0604030504040204" pitchFamily="34" charset="0"/>
              </a:rPr>
              <a:t>TOPICS TO BE COVERED </a:t>
            </a:r>
            <a:endParaRPr lang="en-US" dirty="0">
              <a:solidFill>
                <a:schemeClr val="tx2">
                  <a:lumMod val="50000"/>
                </a:schemeClr>
              </a:solidFill>
              <a:latin typeface="Corbel" panose="020B050302020402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00200"/>
            <a:ext cx="8305800" cy="50292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2500" lnSpcReduction="10000"/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r>
              <a:rPr lang="en-US" dirty="0">
                <a:solidFill>
                  <a:srgbClr val="C00000"/>
                </a:solidFill>
              </a:rPr>
              <a:t>What is Programming and why is it required?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Low-level </a:t>
            </a:r>
            <a:r>
              <a:rPr lang="en-US" dirty="0" err="1">
                <a:solidFill>
                  <a:srgbClr val="C00000"/>
                </a:solidFill>
              </a:rPr>
              <a:t>vs</a:t>
            </a:r>
            <a:r>
              <a:rPr lang="en-US" dirty="0">
                <a:solidFill>
                  <a:srgbClr val="C00000"/>
                </a:solidFill>
              </a:rPr>
              <a:t> High-level programming languages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Why English is not used as a programming language ?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What is Python ?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Compiler </a:t>
            </a:r>
            <a:r>
              <a:rPr lang="en-US" dirty="0" err="1">
                <a:solidFill>
                  <a:srgbClr val="C00000"/>
                </a:solidFill>
              </a:rPr>
              <a:t>vs</a:t>
            </a:r>
            <a:r>
              <a:rPr lang="en-US" dirty="0">
                <a:solidFill>
                  <a:srgbClr val="C00000"/>
                </a:solidFill>
              </a:rPr>
              <a:t> Interpreter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Why learn Python?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Features of Python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IDEs and Related Terminologies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Installing Anaconda and using </a:t>
            </a:r>
            <a:r>
              <a:rPr lang="en-US" dirty="0" err="1">
                <a:solidFill>
                  <a:srgbClr val="C00000"/>
                </a:solidFill>
              </a:rPr>
              <a:t>Jupyter</a:t>
            </a:r>
            <a:r>
              <a:rPr lang="en-US" dirty="0">
                <a:solidFill>
                  <a:srgbClr val="C00000"/>
                </a:solidFill>
              </a:rPr>
              <a:t> Notebook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8430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5800" y="2209801"/>
            <a:ext cx="7772400" cy="11430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WHAT IS PROGRAMMING 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371600" y="4038600"/>
            <a:ext cx="6400800" cy="1752600"/>
          </a:xfr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Like we use Hindi or English etc languages to communicate to each other, likewise we use programming languages to communicate and make the computer perform tasks.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8430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l="-7000" t="-7000" r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971800"/>
            <a:ext cx="8229600" cy="11430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Why is Programming required?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27759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5400" dirty="0">
                <a:solidFill>
                  <a:srgbClr val="FF0000"/>
                </a:solidFill>
              </a:rPr>
              <a:t>History of Python</a:t>
            </a:r>
            <a:endParaRPr lang="en-IN" sz="5400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b="1" dirty="0"/>
              <a:t>Source : </a:t>
            </a:r>
            <a:r>
              <a:rPr lang="en-IN" b="1" dirty="0" err="1"/>
              <a:t>wikipedia</a:t>
            </a:r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27759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310368"/>
            <a:ext cx="6858000" cy="747033"/>
          </a:xfrm>
        </p:spPr>
        <p:txBody>
          <a:bodyPr>
            <a:normAutofit fontScale="90000"/>
          </a:bodyPr>
          <a:lstStyle/>
          <a:p>
            <a:r>
              <a:rPr lang="en-IN" dirty="0"/>
              <a:t>Father of Python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610" y="2206727"/>
            <a:ext cx="7776482" cy="3340905"/>
          </a:xfrm>
        </p:spPr>
        <p:txBody>
          <a:bodyPr/>
          <a:lstStyle/>
          <a:p>
            <a:pPr algn="just"/>
            <a:r>
              <a:rPr lang="en-US" sz="3000" b="1" dirty="0">
                <a:solidFill>
                  <a:srgbClr val="3366CC"/>
                </a:solidFill>
                <a:latin typeface="Arial" panose="020B0604020202020204" pitchFamily="34" charset="0"/>
                <a:hlinkClick r:id="rId1" tooltip="Guido van Rossum"/>
              </a:rPr>
              <a:t>Guido van Rossum</a:t>
            </a:r>
            <a:r>
              <a:rPr lang="en-US" sz="3000" b="1" dirty="0">
                <a:solidFill>
                  <a:srgbClr val="202122"/>
                </a:solidFill>
                <a:latin typeface="Arial" panose="020B0604020202020204" pitchFamily="34" charset="0"/>
              </a:rPr>
              <a:t> began working on Python in the late 1980s as a successor to the </a:t>
            </a:r>
            <a:r>
              <a:rPr lang="en-US" sz="3000" b="1" dirty="0">
                <a:solidFill>
                  <a:srgbClr val="3366CC"/>
                </a:solidFill>
                <a:latin typeface="Arial" panose="020B0604020202020204" pitchFamily="34" charset="0"/>
                <a:hlinkClick r:id="rId2" tooltip="ABC (programming language)"/>
              </a:rPr>
              <a:t>ABC programming language</a:t>
            </a:r>
            <a:r>
              <a:rPr lang="en-US" sz="3000" b="1" dirty="0">
                <a:solidFill>
                  <a:srgbClr val="202122"/>
                </a:solidFill>
                <a:latin typeface="Arial" panose="020B0604020202020204" pitchFamily="34" charset="0"/>
              </a:rPr>
              <a:t> and first released it in 1991 as Python 0.9.0. Python 2.0 was released in 2000. Python 3.0, released in 2008, .</a:t>
            </a:r>
            <a:endParaRPr lang="en-IN" sz="3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324600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420586"/>
            <a:ext cx="6858000" cy="759279"/>
          </a:xfrm>
        </p:spPr>
        <p:txBody>
          <a:bodyPr>
            <a:normAutofit fontScale="90000"/>
          </a:bodyPr>
          <a:lstStyle/>
          <a:p>
            <a:r>
              <a:rPr lang="en-IN" dirty="0"/>
              <a:t>Python Characteristics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326822"/>
            <a:ext cx="6858000" cy="3563711"/>
          </a:xfrm>
        </p:spPr>
        <p:txBody>
          <a:bodyPr>
            <a:normAutofit lnSpcReduction="10000"/>
          </a:bodyPr>
          <a:lstStyle/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202122"/>
                </a:solidFill>
                <a:latin typeface="Arial" panose="020B0604020202020204" pitchFamily="34" charset="0"/>
              </a:rPr>
              <a:t>Python</a:t>
            </a:r>
            <a:r>
              <a:rPr lang="en-US" sz="3600" dirty="0">
                <a:solidFill>
                  <a:srgbClr val="202122"/>
                </a:solidFill>
                <a:latin typeface="Arial" panose="020B0604020202020204" pitchFamily="34" charset="0"/>
              </a:rPr>
              <a:t> is a </a:t>
            </a:r>
            <a:r>
              <a:rPr lang="en-US" sz="3600" dirty="0">
                <a:solidFill>
                  <a:srgbClr val="3366CC"/>
                </a:solidFill>
                <a:latin typeface="Arial" panose="020B0604020202020204" pitchFamily="34" charset="0"/>
                <a:hlinkClick r:id="rId1" tooltip="High-level programming language"/>
              </a:rPr>
              <a:t>high-level</a:t>
            </a:r>
            <a:r>
              <a:rPr lang="en-US" sz="3600" dirty="0">
                <a:solidFill>
                  <a:srgbClr val="202122"/>
                </a:solidFill>
                <a:latin typeface="Arial" panose="020B0604020202020204" pitchFamily="34" charset="0"/>
              </a:rPr>
              <a:t> </a:t>
            </a:r>
            <a:r>
              <a:rPr lang="en-US" sz="3600" dirty="0">
                <a:solidFill>
                  <a:srgbClr val="3366CC"/>
                </a:solidFill>
                <a:latin typeface="Arial" panose="020B0604020202020204" pitchFamily="34" charset="0"/>
                <a:hlinkClick r:id="rId2" tooltip="General-purpose programming language"/>
              </a:rPr>
              <a:t>general-purpose programming </a:t>
            </a:r>
            <a:r>
              <a:rPr lang="en-US" sz="3600" u="sng" dirty="0">
                <a:solidFill>
                  <a:srgbClr val="3366CC"/>
                </a:solidFill>
                <a:latin typeface="Arial" panose="020B0604020202020204" pitchFamily="34" charset="0"/>
                <a:hlinkClick r:id="rId2" tooltip="General-purpose programming language"/>
              </a:rPr>
              <a:t>language</a:t>
            </a:r>
            <a:r>
              <a:rPr lang="en-US" sz="3600" u="sng" dirty="0">
                <a:solidFill>
                  <a:srgbClr val="202122"/>
                </a:solidFill>
                <a:latin typeface="Arial" panose="020B0604020202020204" pitchFamily="34" charset="0"/>
              </a:rPr>
              <a:t>.</a:t>
            </a:r>
            <a:r>
              <a:rPr lang="en-US" sz="3600" dirty="0">
                <a:solidFill>
                  <a:srgbClr val="202122"/>
                </a:solidFill>
                <a:latin typeface="Arial" panose="020B0604020202020204" pitchFamily="34" charset="0"/>
              </a:rPr>
              <a:t> Its design philosophy emphasizes </a:t>
            </a:r>
            <a:r>
              <a:rPr lang="en-US" sz="3600" dirty="0">
                <a:solidFill>
                  <a:srgbClr val="FAA700"/>
                </a:solidFill>
                <a:latin typeface="Arial" panose="020B0604020202020204" pitchFamily="34" charset="0"/>
                <a:hlinkClick r:id="rId3"/>
              </a:rPr>
              <a:t>code readability</a:t>
            </a:r>
            <a:r>
              <a:rPr lang="en-US" sz="3600" dirty="0">
                <a:solidFill>
                  <a:srgbClr val="202122"/>
                </a:solidFill>
                <a:latin typeface="Arial" panose="020B0604020202020204" pitchFamily="34" charset="0"/>
              </a:rPr>
              <a:t> with the use of significant indentation via the </a:t>
            </a:r>
            <a:r>
              <a:rPr lang="en-US" sz="3600" dirty="0">
                <a:solidFill>
                  <a:srgbClr val="3366CC"/>
                </a:solidFill>
                <a:latin typeface="Arial" panose="020B0604020202020204" pitchFamily="34" charset="0"/>
                <a:hlinkClick r:id="rId4" tooltip="Off-side rule"/>
              </a:rPr>
              <a:t>off-side rule.</a:t>
            </a:r>
            <a:endParaRPr lang="en-US" sz="3600" dirty="0">
              <a:solidFill>
                <a:srgbClr val="3366CC"/>
              </a:solidFill>
              <a:latin typeface="Arial" panose="020B0604020202020204" pitchFamily="34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rgbClr val="3366CC"/>
              </a:solidFill>
              <a:effectLst/>
              <a:latin typeface="Arial" panose="020B0604020202020204" pitchFamily="34" charset="0"/>
              <a:hlinkClick r:id="rId4" tooltip="Off-side rule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172200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1"/>
          <a:srcRect t="7356"/>
          <a:stretch>
            <a:fillRect/>
          </a:stretch>
        </p:blipFill>
        <p:spPr>
          <a:xfrm>
            <a:off x="34413" y="22123"/>
            <a:ext cx="9135672" cy="683587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8430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699022"/>
            <a:ext cx="6858000" cy="6278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High Level General Purpose</a:t>
            </a:r>
            <a:endParaRPr lang="en-IN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2976" y="2608489"/>
            <a:ext cx="7347857" cy="2767693"/>
          </a:xfrm>
        </p:spPr>
        <p:txBody>
          <a:bodyPr/>
          <a:lstStyle/>
          <a:p>
            <a:pPr algn="just"/>
            <a:r>
              <a:rPr lang="en-US" sz="2100" dirty="0">
                <a:solidFill>
                  <a:srgbClr val="202122"/>
                </a:solidFill>
                <a:latin typeface="Arial" panose="020B0604020202020204" pitchFamily="34" charset="0"/>
              </a:rPr>
              <a:t>In </a:t>
            </a:r>
            <a:r>
              <a:rPr lang="en-US" sz="2100" dirty="0">
                <a:solidFill>
                  <a:srgbClr val="3366CC"/>
                </a:solidFill>
                <a:latin typeface="Arial" panose="020B0604020202020204" pitchFamily="34" charset="0"/>
                <a:hlinkClick r:id="rId1" tooltip="Computer software"/>
              </a:rPr>
              <a:t>computer software</a:t>
            </a:r>
            <a:r>
              <a:rPr lang="en-US" sz="2100" dirty="0">
                <a:solidFill>
                  <a:srgbClr val="202122"/>
                </a:solidFill>
                <a:latin typeface="Arial" panose="020B0604020202020204" pitchFamily="34" charset="0"/>
              </a:rPr>
              <a:t>, a </a:t>
            </a:r>
            <a:r>
              <a:rPr lang="en-US" sz="2100" b="1" dirty="0">
                <a:solidFill>
                  <a:srgbClr val="202122"/>
                </a:solidFill>
                <a:latin typeface="Arial" panose="020B0604020202020204" pitchFamily="34" charset="0"/>
              </a:rPr>
              <a:t>general-purpose programming language</a:t>
            </a:r>
            <a:r>
              <a:rPr lang="en-US" sz="2100" dirty="0">
                <a:solidFill>
                  <a:srgbClr val="202122"/>
                </a:solidFill>
                <a:latin typeface="Arial" panose="020B0604020202020204" pitchFamily="34" charset="0"/>
              </a:rPr>
              <a:t> (</a:t>
            </a:r>
            <a:r>
              <a:rPr lang="en-US" sz="2100" b="1" dirty="0">
                <a:solidFill>
                  <a:srgbClr val="202122"/>
                </a:solidFill>
                <a:latin typeface="Arial" panose="020B0604020202020204" pitchFamily="34" charset="0"/>
              </a:rPr>
              <a:t>GPL</a:t>
            </a:r>
            <a:r>
              <a:rPr lang="en-US" sz="2100" dirty="0">
                <a:solidFill>
                  <a:srgbClr val="202122"/>
                </a:solidFill>
                <a:latin typeface="Arial" panose="020B0604020202020204" pitchFamily="34" charset="0"/>
              </a:rPr>
              <a:t>) is a </a:t>
            </a:r>
            <a:r>
              <a:rPr lang="en-US" sz="2100" dirty="0">
                <a:solidFill>
                  <a:srgbClr val="3366CC"/>
                </a:solidFill>
                <a:latin typeface="Arial" panose="020B0604020202020204" pitchFamily="34" charset="0"/>
                <a:hlinkClick r:id="rId2" tooltip="Programming language"/>
              </a:rPr>
              <a:t>programming language</a:t>
            </a:r>
            <a:r>
              <a:rPr lang="en-US" sz="2100" dirty="0">
                <a:solidFill>
                  <a:srgbClr val="202122"/>
                </a:solidFill>
                <a:latin typeface="Arial" panose="020B0604020202020204" pitchFamily="34" charset="0"/>
              </a:rPr>
              <a:t> for building </a:t>
            </a:r>
            <a:r>
              <a:rPr lang="en-US" sz="2100" dirty="0">
                <a:solidFill>
                  <a:srgbClr val="3366CC"/>
                </a:solidFill>
                <a:latin typeface="Arial" panose="020B0604020202020204" pitchFamily="34" charset="0"/>
                <a:hlinkClick r:id="rId3" tooltip="Software"/>
              </a:rPr>
              <a:t>software</a:t>
            </a:r>
            <a:r>
              <a:rPr lang="en-US" sz="2100" dirty="0">
                <a:solidFill>
                  <a:srgbClr val="202122"/>
                </a:solidFill>
                <a:latin typeface="Arial" panose="020B0604020202020204" pitchFamily="34" charset="0"/>
              </a:rPr>
              <a:t> in a wide variety of application </a:t>
            </a:r>
            <a:r>
              <a:rPr lang="en-US" sz="2100" dirty="0">
                <a:solidFill>
                  <a:srgbClr val="3366CC"/>
                </a:solidFill>
                <a:latin typeface="Arial" panose="020B0604020202020204" pitchFamily="34" charset="0"/>
                <a:hlinkClick r:id="rId4" tooltip="Domain (software engineering)"/>
              </a:rPr>
              <a:t>domains</a:t>
            </a:r>
            <a:r>
              <a:rPr lang="en-US" sz="2100" dirty="0">
                <a:solidFill>
                  <a:srgbClr val="202122"/>
                </a:solidFill>
                <a:latin typeface="Arial" panose="020B0604020202020204" pitchFamily="34" charset="0"/>
              </a:rPr>
              <a:t>. Conversely, a </a:t>
            </a:r>
            <a:r>
              <a:rPr lang="en-US" sz="2100" u="sng" dirty="0">
                <a:solidFill>
                  <a:srgbClr val="3366CC"/>
                </a:solidFill>
                <a:latin typeface="Arial" panose="020B0604020202020204" pitchFamily="34" charset="0"/>
                <a:hlinkClick r:id="rId5"/>
              </a:rPr>
              <a:t>domain-specific programming language</a:t>
            </a:r>
            <a:r>
              <a:rPr lang="en-US" sz="2100" dirty="0">
                <a:solidFill>
                  <a:srgbClr val="202122"/>
                </a:solidFill>
                <a:latin typeface="Arial" panose="020B0604020202020204" pitchFamily="34" charset="0"/>
              </a:rPr>
              <a:t> (DSL) is used within a specific area. For example, </a:t>
            </a:r>
            <a:r>
              <a:rPr lang="en-US" sz="2100" dirty="0">
                <a:solidFill>
                  <a:srgbClr val="3366CC"/>
                </a:solidFill>
                <a:latin typeface="Arial" panose="020B0604020202020204" pitchFamily="34" charset="0"/>
                <a:hlinkClick r:id="rId6" tooltip="Python (programming language)"/>
              </a:rPr>
              <a:t>Python</a:t>
            </a:r>
            <a:r>
              <a:rPr lang="en-US" sz="2100" dirty="0">
                <a:solidFill>
                  <a:srgbClr val="202122"/>
                </a:solidFill>
                <a:latin typeface="Arial" panose="020B0604020202020204" pitchFamily="34" charset="0"/>
              </a:rPr>
              <a:t> is a GPL, while </a:t>
            </a:r>
            <a:r>
              <a:rPr lang="en-US" sz="2100" dirty="0">
                <a:solidFill>
                  <a:srgbClr val="3366CC"/>
                </a:solidFill>
                <a:latin typeface="Arial" panose="020B0604020202020204" pitchFamily="34" charset="0"/>
                <a:hlinkClick r:id="rId7" tooltip="SQL"/>
              </a:rPr>
              <a:t>SQL</a:t>
            </a:r>
            <a:r>
              <a:rPr lang="en-US" sz="2100" dirty="0">
                <a:solidFill>
                  <a:srgbClr val="3366CC"/>
                </a:solidFill>
                <a:latin typeface="Arial" panose="020B0604020202020204" pitchFamily="34" charset="0"/>
              </a:rPr>
              <a:t> and HTML</a:t>
            </a:r>
            <a:r>
              <a:rPr lang="en-US" sz="2100" dirty="0">
                <a:solidFill>
                  <a:srgbClr val="202122"/>
                </a:solidFill>
                <a:latin typeface="Arial" panose="020B0604020202020204" pitchFamily="34" charset="0"/>
              </a:rPr>
              <a:t> are  DSL for </a:t>
            </a:r>
            <a:r>
              <a:rPr lang="en-US" sz="2100" dirty="0">
                <a:solidFill>
                  <a:srgbClr val="3366CC"/>
                </a:solidFill>
                <a:latin typeface="Arial" panose="020B0604020202020204" pitchFamily="34" charset="0"/>
                <a:hlinkClick r:id="rId8" tooltip="Query language"/>
              </a:rPr>
              <a:t>querying </a:t>
            </a:r>
            <a:r>
              <a:rPr lang="en-US" sz="2100" dirty="0">
                <a:solidFill>
                  <a:srgbClr val="3366CC"/>
                </a:solidFill>
                <a:latin typeface="Arial" panose="020B0604020202020204" pitchFamily="34" charset="0"/>
              </a:rPr>
              <a:t>RDBMS.</a:t>
            </a:r>
            <a:endParaRPr lang="en-IN" sz="21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4630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699023"/>
            <a:ext cx="6858000" cy="529828"/>
          </a:xfrm>
        </p:spPr>
        <p:txBody>
          <a:bodyPr>
            <a:normAutofit fontScale="90000"/>
          </a:bodyPr>
          <a:lstStyle/>
          <a:p>
            <a:r>
              <a:rPr lang="en-IN" dirty="0"/>
              <a:t>Dynamically Typed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88143" y="2351315"/>
            <a:ext cx="7138219" cy="268710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000" dirty="0">
                <a:solidFill>
                  <a:srgbClr val="000000"/>
                </a:solidFill>
                <a:latin typeface="Raleway" panose="020B0604020202020204" pitchFamily="2" charset="0"/>
              </a:rPr>
              <a:t>For this category of programming languages, there’s no requirement to explicitly state the data type during variable declarations. The language system is able to detect the type of a variable at runtime. </a:t>
            </a:r>
            <a:endParaRPr lang="en-IN" sz="3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643" y="6172200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304800" y="1752600"/>
            <a:ext cx="3657600" cy="48006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181600" y="1676400"/>
            <a:ext cx="3733800" cy="48768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0"/>
            <a:ext cx="2209800" cy="15081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High-Level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Programming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Language</a:t>
            </a:r>
            <a:endParaRPr lang="en-US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91200" y="0"/>
            <a:ext cx="2209800" cy="15081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Low-Level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2800" b="1" dirty="0">
                <a:solidFill>
                  <a:srgbClr val="FF0000"/>
                </a:solidFill>
              </a:rPr>
              <a:t>Programming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2800" b="1" dirty="0">
                <a:solidFill>
                  <a:srgbClr val="FF0000"/>
                </a:solidFill>
              </a:rPr>
              <a:t>Language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1000" y="2286000"/>
            <a:ext cx="3505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Easy for humans to read , write and modify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Needs to be translated into machine code.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 No understanding of how hardware components work is needed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</a:t>
            </a:r>
            <a:r>
              <a:rPr lang="en-US" sz="2400" dirty="0" err="1"/>
              <a:t>Eg</a:t>
            </a:r>
            <a:r>
              <a:rPr lang="en-US" sz="2400" dirty="0"/>
              <a:t> -  Python , C , C++ etc 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5334000" y="2362200"/>
            <a:ext cx="3429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Hard for humans to read , write and modify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 Does not need to be   translated.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 Good understanding        of how hardware components work is needed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</a:t>
            </a:r>
            <a:r>
              <a:rPr lang="en-US" sz="2400" dirty="0" err="1"/>
              <a:t>Eg</a:t>
            </a:r>
            <a:r>
              <a:rPr lang="en-US" sz="2400" dirty="0"/>
              <a:t> -  Assembly language</a:t>
            </a:r>
            <a:endParaRPr lang="en-US" sz="2400" dirty="0"/>
          </a:p>
          <a:p>
            <a:r>
              <a:rPr lang="en-US" sz="2400" dirty="0"/>
              <a:t>       and machine code</a:t>
            </a:r>
            <a:endParaRPr lang="en-US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10" y="6332399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high-level-language-and-low-level-language.png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4800" y="914400"/>
            <a:ext cx="8410362" cy="4876800"/>
          </a:xfrm>
        </p:spPr>
      </p:pic>
      <p:sp>
        <p:nvSpPr>
          <p:cNvPr id="3" name="TextBox 2"/>
          <p:cNvSpPr txBox="1"/>
          <p:nvPr/>
        </p:nvSpPr>
        <p:spPr>
          <a:xfrm>
            <a:off x="1828800" y="533400"/>
            <a:ext cx="4953000" cy="5539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 EXAMPLE</a:t>
            </a:r>
            <a:endParaRPr lang="en-US" sz="3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172200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1143000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Why English is not used as a Programming Language?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343400"/>
            <a:ext cx="8229600" cy="190500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Autofit/>
            <a:scene3d>
              <a:camera prst="orthographicFront"/>
              <a:lightRig rig="threePt" dir="t"/>
            </a:scene3d>
            <a:sp3d extrusionH="57150">
              <a:bevelT w="82550" h="38100" prst="coolSlant"/>
            </a:sp3d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</a:rPr>
              <a:t>Ambiguous</a:t>
            </a:r>
            <a:endParaRPr lang="en-US" sz="3600" dirty="0">
              <a:solidFill>
                <a:schemeClr val="tx2">
                  <a:lumMod val="60000"/>
                  <a:lumOff val="40000"/>
                </a:schemeClr>
              </a:solidFill>
              <a:effectLst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</a:rPr>
              <a:t>Can’t solve a mathematical problem</a:t>
            </a:r>
            <a:endParaRPr lang="en-US" sz="3600" dirty="0">
              <a:solidFill>
                <a:schemeClr val="tx2">
                  <a:lumMod val="60000"/>
                  <a:lumOff val="40000"/>
                </a:schemeClr>
              </a:solidFill>
              <a:effectLst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</a:rPr>
              <a:t>Difficult Grammar </a:t>
            </a:r>
            <a:endParaRPr lang="en-US" sz="3600" dirty="0">
              <a:solidFill>
                <a:schemeClr val="tx2">
                  <a:lumMod val="60000"/>
                  <a:lumOff val="40000"/>
                </a:schemeClr>
              </a:solidFill>
              <a:effectLst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8430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l="8000" t="1000" r="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WHAT IS PYTHON?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3200400"/>
            <a:ext cx="8305800" cy="21336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en-US" sz="3600" dirty="0">
                <a:solidFill>
                  <a:srgbClr val="FF0000"/>
                </a:solidFill>
              </a:rPr>
              <a:t>Python is a general purpose , high-level ,both compiled and interpreted language with easy syntax .</a:t>
            </a:r>
            <a:endParaRPr lang="en-US" sz="3600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8430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90600" y="762000"/>
            <a:ext cx="2438400" cy="6309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500" dirty="0"/>
              <a:t> COMPILER</a:t>
            </a:r>
            <a:endParaRPr lang="en-US" sz="3500" dirty="0"/>
          </a:p>
        </p:txBody>
      </p:sp>
      <p:sp>
        <p:nvSpPr>
          <p:cNvPr id="6" name="TextBox 5"/>
          <p:cNvSpPr txBox="1"/>
          <p:nvPr/>
        </p:nvSpPr>
        <p:spPr>
          <a:xfrm>
            <a:off x="5638800" y="762000"/>
            <a:ext cx="2743200" cy="6309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500" dirty="0"/>
              <a:t>INTERPRETER</a:t>
            </a:r>
            <a:endParaRPr lang="en-US" sz="3500" dirty="0"/>
          </a:p>
        </p:txBody>
      </p:sp>
      <p:sp>
        <p:nvSpPr>
          <p:cNvPr id="9" name="Rectangle 8"/>
          <p:cNvSpPr/>
          <p:nvPr/>
        </p:nvSpPr>
        <p:spPr>
          <a:xfrm>
            <a:off x="228600" y="1905000"/>
            <a:ext cx="3810000" cy="4953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029200" y="1905000"/>
            <a:ext cx="3810000" cy="4953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81000" y="2209801"/>
            <a:ext cx="3657600" cy="321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900" dirty="0"/>
              <a:t> Scans the entire program and translates it as a whole into machine code.</a:t>
            </a:r>
            <a:endParaRPr lang="en-US" sz="2900" dirty="0"/>
          </a:p>
          <a:p>
            <a:pPr>
              <a:buFont typeface="Arial" panose="020B0604020202020204" pitchFamily="34" charset="0"/>
              <a:buChar char="•"/>
            </a:pPr>
            <a:endParaRPr lang="en-US" sz="29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900" dirty="0"/>
              <a:t> Overall execution time is fast . </a:t>
            </a:r>
            <a:endParaRPr lang="en-US" sz="2900" dirty="0"/>
          </a:p>
        </p:txBody>
      </p:sp>
      <p:sp>
        <p:nvSpPr>
          <p:cNvPr id="12" name="TextBox 11"/>
          <p:cNvSpPr txBox="1"/>
          <p:nvPr/>
        </p:nvSpPr>
        <p:spPr>
          <a:xfrm>
            <a:off x="5181600" y="2286000"/>
            <a:ext cx="358140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900" dirty="0"/>
              <a:t> Translates one statement at a time into machine code.</a:t>
            </a:r>
            <a:endParaRPr lang="en-US" sz="2900" dirty="0"/>
          </a:p>
          <a:p>
            <a:pPr>
              <a:buFont typeface="Arial" panose="020B0604020202020204" pitchFamily="34" charset="0"/>
              <a:buChar char="•"/>
            </a:pPr>
            <a:endParaRPr lang="en-US" sz="29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900" dirty="0"/>
              <a:t>Overall execution time </a:t>
            </a:r>
            <a:r>
              <a:rPr lang="en-US" sz="2900"/>
              <a:t>is slow.</a:t>
            </a:r>
            <a:endParaRPr lang="en-US" sz="29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8430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How is Python both a compiled and an Interpreted Language?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828800"/>
            <a:ext cx="8229600" cy="45259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r>
              <a:rPr lang="en-US" b="1" dirty="0"/>
              <a:t>STEP 1</a:t>
            </a:r>
            <a:r>
              <a:rPr lang="en-US" dirty="0"/>
              <a:t>: Python compiler scans the source code and if no errors are encountered it moves to the next step.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STEP 2</a:t>
            </a:r>
            <a:r>
              <a:rPr lang="en-US" dirty="0"/>
              <a:t>: Python Compiler converts the source code into byte code . 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STEP 3</a:t>
            </a:r>
            <a:r>
              <a:rPr lang="en-US" dirty="0"/>
              <a:t>: Since Computer does not understand byte code PVM(Python Virtual Machine) which is an interpreter</a:t>
            </a:r>
            <a:r>
              <a:rPr lang="en-US" b="1" dirty="0"/>
              <a:t> </a:t>
            </a:r>
            <a:r>
              <a:rPr lang="en-US" dirty="0"/>
              <a:t>converts the byte code into machine code 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8430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/>
              <a:t>Advantages of both being a compiled and interpreted language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67000"/>
            <a:ext cx="8229600" cy="31242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If we use only compiler we will have speed but not portability . 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If we use only interpreter then we will have portability but no speed.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Using both compiler and interpreter compromises between speed and portability.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8430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l="-14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>
                <a:latin typeface="Corbel" panose="020B0503020204020204" pitchFamily="34" charset="0"/>
                <a:ea typeface="Verdana" panose="020B0604030504040204" pitchFamily="34" charset="0"/>
              </a:rPr>
              <a:t>WHY LEARN PYTHON?</a:t>
            </a:r>
            <a:endParaRPr lang="en-US" b="1" dirty="0">
              <a:latin typeface="Corbel" panose="020B050302020402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2590800"/>
            <a:ext cx="6096000" cy="31242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endParaRPr lang="en-US" sz="4400" dirty="0">
              <a:solidFill>
                <a:srgbClr val="FF0000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0000"/>
                </a:solidFill>
              </a:rPr>
              <a:t>PYTHON IS EASY TO LEARN</a:t>
            </a:r>
            <a:endParaRPr lang="en-US" sz="4000" dirty="0">
              <a:solidFill>
                <a:srgbClr val="FF0000"/>
              </a:solidFill>
            </a:endParaRPr>
          </a:p>
          <a:p>
            <a:pPr>
              <a:buNone/>
            </a:pPr>
            <a:endParaRPr lang="en-US" sz="4400" dirty="0">
              <a:solidFill>
                <a:srgbClr val="FF0000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0000"/>
                </a:solidFill>
              </a:rPr>
              <a:t>PYTHON IS VERSATILE </a:t>
            </a:r>
            <a:endParaRPr lang="en-US" sz="4000" dirty="0">
              <a:solidFill>
                <a:srgbClr val="FF0000"/>
              </a:solidFill>
            </a:endParaRPr>
          </a:p>
          <a:p>
            <a:endParaRPr lang="en-US" sz="4400" dirty="0">
              <a:solidFill>
                <a:srgbClr val="FF0000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0000"/>
                </a:solidFill>
              </a:rPr>
              <a:t>FREE AND OPEN SOURCE</a:t>
            </a:r>
            <a:endParaRPr lang="en-US" sz="4000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8430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l="11000" r="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FEATURES OF PYTHON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67000"/>
            <a:ext cx="8382000" cy="2743199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en-US" dirty="0"/>
              <a:t>Object Oriented Programming Language</a:t>
            </a:r>
            <a:endParaRPr lang="en-US" dirty="0"/>
          </a:p>
          <a:p>
            <a:r>
              <a:rPr lang="en-US" dirty="0"/>
              <a:t>Portable Language</a:t>
            </a:r>
            <a:endParaRPr lang="en-US" dirty="0"/>
          </a:p>
          <a:p>
            <a:r>
              <a:rPr lang="en-US" dirty="0"/>
              <a:t>GUI Programming Support</a:t>
            </a:r>
            <a:endParaRPr lang="en-US" dirty="0"/>
          </a:p>
          <a:p>
            <a:r>
              <a:rPr lang="en-US" dirty="0"/>
              <a:t>Integrated Language</a:t>
            </a:r>
            <a:endParaRPr lang="en-US" dirty="0"/>
          </a:p>
          <a:p>
            <a:r>
              <a:rPr lang="en-US" dirty="0"/>
              <a:t>Dynamically Typed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8430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l="11000" t="1000" r="1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590800"/>
            <a:ext cx="8229600" cy="1143000"/>
          </a:xfrm>
          <a:ln>
            <a:noFill/>
          </a:ln>
        </p:spPr>
        <p:style>
          <a:lnRef idx="2">
            <a:schemeClr val="accent4"/>
          </a:lnRef>
          <a:fillRef idx="100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WHERE TO CODE?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8430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38200"/>
            <a:ext cx="8229600" cy="2590800"/>
          </a:xfr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1. </a:t>
            </a:r>
            <a:r>
              <a:rPr lang="en-US" sz="3900" u="sng" dirty="0">
                <a:solidFill>
                  <a:srgbClr val="FF0000"/>
                </a:solidFill>
              </a:rPr>
              <a:t>INTEGRATED DEVELOPMENT               ENVIRONNMENT</a:t>
            </a:r>
            <a:r>
              <a:rPr lang="en-US" sz="3900" u="sng" dirty="0">
                <a:solidFill>
                  <a:schemeClr val="tx1"/>
                </a:solidFill>
              </a:rPr>
              <a:t>(IDE) </a:t>
            </a:r>
            <a:br>
              <a:rPr lang="en-US" sz="3900" dirty="0">
                <a:solidFill>
                  <a:schemeClr val="tx1"/>
                </a:solidFill>
              </a:rPr>
            </a:br>
            <a:r>
              <a:rPr lang="en-US" sz="3900" dirty="0" err="1">
                <a:solidFill>
                  <a:schemeClr val="tx1"/>
                </a:solidFill>
              </a:rPr>
              <a:t>Eg</a:t>
            </a:r>
            <a:r>
              <a:rPr lang="en-US" sz="3900" dirty="0">
                <a:solidFill>
                  <a:schemeClr val="tx1"/>
                </a:solidFill>
              </a:rPr>
              <a:t> – </a:t>
            </a:r>
            <a:r>
              <a:rPr lang="en-US" sz="3900" dirty="0" err="1">
                <a:solidFill>
                  <a:schemeClr val="tx1"/>
                </a:solidFill>
              </a:rPr>
              <a:t>Jupyter</a:t>
            </a:r>
            <a:r>
              <a:rPr lang="en-US" sz="3900" dirty="0">
                <a:solidFill>
                  <a:schemeClr val="tx1"/>
                </a:solidFill>
              </a:rPr>
              <a:t> Notebook, </a:t>
            </a:r>
            <a:r>
              <a:rPr lang="en-US" sz="3900" dirty="0" err="1">
                <a:solidFill>
                  <a:schemeClr val="tx1"/>
                </a:solidFill>
              </a:rPr>
              <a:t>Pycharm</a:t>
            </a:r>
            <a:r>
              <a:rPr lang="en-US" sz="3900" dirty="0">
                <a:solidFill>
                  <a:schemeClr val="tx1"/>
                </a:solidFill>
              </a:rPr>
              <a:t> , </a:t>
            </a:r>
            <a:r>
              <a:rPr lang="en-US" sz="3900" dirty="0" err="1">
                <a:solidFill>
                  <a:schemeClr val="tx1"/>
                </a:solidFill>
              </a:rPr>
              <a:t>Spyder</a:t>
            </a:r>
            <a:r>
              <a:rPr lang="en-US" sz="3900" dirty="0">
                <a:solidFill>
                  <a:schemeClr val="tx1"/>
                </a:solidFill>
              </a:rPr>
              <a:t> etc.</a:t>
            </a:r>
            <a:endParaRPr lang="en-US" sz="39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1000" y="4114800"/>
            <a:ext cx="8305800" cy="116955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742950" indent="-742950"/>
            <a:r>
              <a:rPr lang="en-US" sz="3500" dirty="0">
                <a:solidFill>
                  <a:srgbClr val="00B050"/>
                </a:solidFill>
              </a:rPr>
              <a:t>2. </a:t>
            </a:r>
            <a:r>
              <a:rPr lang="en-US" sz="3500" u="sng" dirty="0">
                <a:solidFill>
                  <a:srgbClr val="00B050"/>
                </a:solidFill>
              </a:rPr>
              <a:t>CODE EDITOR</a:t>
            </a:r>
            <a:endParaRPr lang="en-US" sz="3500" u="sng" dirty="0">
              <a:solidFill>
                <a:srgbClr val="00B050"/>
              </a:solidFill>
            </a:endParaRPr>
          </a:p>
          <a:p>
            <a:pPr marL="742950" indent="-742950"/>
            <a:r>
              <a:rPr lang="en-US" sz="3500" dirty="0" err="1">
                <a:solidFill>
                  <a:srgbClr val="00B050"/>
                </a:solidFill>
              </a:rPr>
              <a:t>Eg</a:t>
            </a:r>
            <a:r>
              <a:rPr lang="en-US" sz="3500" dirty="0">
                <a:solidFill>
                  <a:srgbClr val="00B050"/>
                </a:solidFill>
              </a:rPr>
              <a:t> – Atom , Notepad++ , Sublime Text etc. </a:t>
            </a:r>
            <a:endParaRPr lang="en-US" sz="3500" dirty="0">
              <a:solidFill>
                <a:srgbClr val="00B05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8430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l="11000" t="1000" r="11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895600"/>
            <a:ext cx="8229600" cy="11430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WHAT IS AN IDE?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8430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l="-57000" r="-5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458200" cy="51054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An Integrated Development  Environment (IDE)</a:t>
            </a:r>
            <a:endParaRPr lang="en-US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is a software where you can write your code .</a:t>
            </a:r>
            <a:endParaRPr lang="en-US" b="1" dirty="0">
              <a:solidFill>
                <a:srgbClr val="FF0000"/>
              </a:solidFill>
            </a:endParaRPr>
          </a:p>
          <a:p>
            <a:pPr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An IDE has a lot of features .					</a:t>
            </a:r>
            <a:endParaRPr lang="en-US" b="1" dirty="0">
              <a:solidFill>
                <a:srgbClr val="FF0000"/>
              </a:solidFill>
            </a:endParaRPr>
          </a:p>
          <a:p>
            <a:pPr lvl="2"/>
            <a:r>
              <a:rPr lang="en-US" sz="3200" b="1" dirty="0">
                <a:solidFill>
                  <a:srgbClr val="FF0000"/>
                </a:solidFill>
              </a:rPr>
              <a:t>Debugger</a:t>
            </a:r>
            <a:endParaRPr lang="en-US" sz="3200" b="1" dirty="0">
              <a:solidFill>
                <a:srgbClr val="FF0000"/>
              </a:solidFill>
            </a:endParaRPr>
          </a:p>
          <a:p>
            <a:pPr lvl="2"/>
            <a:r>
              <a:rPr lang="en-US" sz="3200" b="1" dirty="0">
                <a:solidFill>
                  <a:srgbClr val="FF0000"/>
                </a:solidFill>
              </a:rPr>
              <a:t>Code Editor</a:t>
            </a:r>
            <a:endParaRPr lang="en-US" sz="3200" b="1" dirty="0">
              <a:solidFill>
                <a:srgbClr val="FF0000"/>
              </a:solidFill>
            </a:endParaRPr>
          </a:p>
          <a:p>
            <a:pPr lvl="2"/>
            <a:r>
              <a:rPr lang="en-US" sz="3200" b="1" dirty="0">
                <a:solidFill>
                  <a:srgbClr val="FF0000"/>
                </a:solidFill>
              </a:rPr>
              <a:t>Compiler</a:t>
            </a:r>
            <a:endParaRPr lang="en-US" sz="3200" b="1" dirty="0">
              <a:solidFill>
                <a:srgbClr val="FF0000"/>
              </a:solidFill>
            </a:endParaRPr>
          </a:p>
          <a:p>
            <a:pPr lvl="2"/>
            <a:r>
              <a:rPr lang="en-US" sz="3200" b="1" dirty="0">
                <a:solidFill>
                  <a:srgbClr val="FF0000"/>
                </a:solidFill>
              </a:rPr>
              <a:t>Interpreter</a:t>
            </a:r>
            <a:endParaRPr lang="en-US" sz="3200" b="1" dirty="0">
              <a:solidFill>
                <a:srgbClr val="FF0000"/>
              </a:solidFill>
            </a:endParaRPr>
          </a:p>
          <a:p>
            <a:pPr lvl="2"/>
            <a:r>
              <a:rPr lang="en-US" sz="3200" b="1" dirty="0">
                <a:solidFill>
                  <a:srgbClr val="FF0000"/>
                </a:solidFill>
              </a:rPr>
              <a:t>Syntax Highlighting</a:t>
            </a:r>
            <a:endParaRPr lang="en-US" sz="3200" b="1" dirty="0">
              <a:solidFill>
                <a:srgbClr val="FF0000"/>
              </a:solidFill>
            </a:endParaRPr>
          </a:p>
          <a:p>
            <a:pPr lvl="2"/>
            <a:r>
              <a:rPr lang="en-US" sz="3200" b="1" dirty="0">
                <a:solidFill>
                  <a:srgbClr val="FF0000"/>
                </a:solidFill>
              </a:rPr>
              <a:t>Auto Code Completion</a:t>
            </a:r>
            <a:endParaRPr lang="en-US" sz="3200" b="1" dirty="0">
              <a:solidFill>
                <a:srgbClr val="FF0000"/>
              </a:solidFill>
            </a:endParaRPr>
          </a:p>
          <a:p>
            <a:pPr lvl="2"/>
            <a:r>
              <a:rPr lang="en-US" sz="3200" b="1" dirty="0">
                <a:solidFill>
                  <a:srgbClr val="FF0000"/>
                </a:solidFill>
              </a:rPr>
              <a:t>Pre- installed packages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8430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l="11000" t="1000" r="11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895600"/>
            <a:ext cx="8229600" cy="11430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WHAT IS A CODE EDITOR?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8430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457200" y="2438400"/>
          <a:ext cx="8305800" cy="320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1173162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CODE EDITOR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8430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85800"/>
            <a:ext cx="6781800" cy="1143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4000" b="1" dirty="0"/>
              <a:t>Installing Anaconda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286000"/>
            <a:ext cx="8305800" cy="4267200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47500" lnSpcReduction="20000"/>
          </a:bodyPr>
          <a:lstStyle/>
          <a:p>
            <a:r>
              <a:rPr lang="en-US" sz="6400" dirty="0"/>
              <a:t>Anaconda is the most widely used Python distribution for data science and comes pre-loaded with all the most popular libraries and tools . </a:t>
            </a:r>
            <a:endParaRPr lang="en-US" sz="6400" dirty="0"/>
          </a:p>
          <a:p>
            <a:r>
              <a:rPr lang="en-US" sz="6400" dirty="0"/>
              <a:t>It also provides IDEs like </a:t>
            </a:r>
            <a:r>
              <a:rPr lang="en-US" sz="6400" dirty="0" err="1"/>
              <a:t>Jupyter</a:t>
            </a:r>
            <a:r>
              <a:rPr lang="en-US" sz="6400" dirty="0"/>
              <a:t> Notebook , </a:t>
            </a:r>
            <a:r>
              <a:rPr lang="en-US" sz="6400" dirty="0" err="1"/>
              <a:t>Spyder</a:t>
            </a:r>
            <a:r>
              <a:rPr lang="en-US" sz="6400" dirty="0"/>
              <a:t> etc.</a:t>
            </a:r>
            <a:endParaRPr lang="en-US" sz="6400" dirty="0"/>
          </a:p>
          <a:p>
            <a:r>
              <a:rPr lang="en-US" sz="6400" dirty="0"/>
              <a:t>Some of the biggest Python libraries included in Anaconda include  </a:t>
            </a:r>
            <a:r>
              <a:rPr lang="en-US" sz="6400" dirty="0" err="1"/>
              <a:t>numpy</a:t>
            </a:r>
            <a:r>
              <a:rPr lang="en-US" sz="6400" dirty="0"/>
              <a:t>, pandas,  </a:t>
            </a:r>
            <a:r>
              <a:rPr lang="en-US" sz="6400" dirty="0" err="1"/>
              <a:t>matplotlib</a:t>
            </a:r>
            <a:r>
              <a:rPr lang="en-US" sz="6400" dirty="0"/>
              <a:t>,  </a:t>
            </a:r>
            <a:r>
              <a:rPr lang="en-US" sz="6400" dirty="0" err="1"/>
              <a:t>sklearn</a:t>
            </a:r>
            <a:r>
              <a:rPr lang="en-US" sz="6400" dirty="0"/>
              <a:t>, </a:t>
            </a:r>
            <a:r>
              <a:rPr lang="en-US" sz="6400" dirty="0" err="1"/>
              <a:t>seaborn</a:t>
            </a:r>
            <a:r>
              <a:rPr lang="en-US" sz="6400" dirty="0"/>
              <a:t> etc.</a:t>
            </a:r>
            <a:endParaRPr lang="en-US" sz="6400" dirty="0"/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8430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09600" y="1600201"/>
            <a:ext cx="7467600" cy="2743200"/>
          </a:xfrm>
        </p:spPr>
        <p:txBody>
          <a:bodyPr>
            <a:noAutofit/>
          </a:bodyPr>
          <a:lstStyle/>
          <a:p>
            <a:r>
              <a:rPr lang="en-US" sz="7200" dirty="0">
                <a:latin typeface="Cooper Black" panose="0208090404030B020404" pitchFamily="18" charset="0"/>
              </a:rPr>
              <a:t>HOW TO LEARN </a:t>
            </a:r>
            <a:r>
              <a:rPr lang="en-US" sz="7200" dirty="0">
                <a:solidFill>
                  <a:srgbClr val="FF0000"/>
                </a:solidFill>
                <a:latin typeface="Cooper Black" panose="0208090404030B020404" pitchFamily="18" charset="0"/>
              </a:rPr>
              <a:t>PYTHON</a:t>
            </a:r>
            <a:r>
              <a:rPr lang="en-US" sz="7200" dirty="0">
                <a:latin typeface="Cooper Black" panose="0208090404030B020404" pitchFamily="18" charset="0"/>
              </a:rPr>
              <a:t> FOR </a:t>
            </a:r>
            <a:r>
              <a:rPr lang="en-US" sz="7200" dirty="0">
                <a:solidFill>
                  <a:srgbClr val="FFC000"/>
                </a:solidFill>
                <a:latin typeface="Cooper Black" panose="0208090404030B020404" pitchFamily="18" charset="0"/>
              </a:rPr>
              <a:t>DATA SCIENCE?</a:t>
            </a:r>
            <a:endParaRPr lang="en-US" sz="7200" dirty="0">
              <a:solidFill>
                <a:srgbClr val="FFC000"/>
              </a:solidFill>
              <a:latin typeface="Cooper Black" panose="0208090404030B0204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27759"/>
            <a:ext cx="1143000" cy="36957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>
            <a:normAutofit fontScale="90000"/>
          </a:bodyPr>
          <a:lstStyle/>
          <a:p>
            <a:r>
              <a:rPr lang="en-US" b="1" u="sng" dirty="0">
                <a:latin typeface="Britannic Bold" panose="020B0903060703020204" pitchFamily="34" charset="0"/>
              </a:rPr>
              <a:t>Learn Topics Related to Data Science</a:t>
            </a:r>
            <a:endParaRPr lang="en-US" b="1" u="sng" dirty="0">
              <a:latin typeface="Britannic Bold" panose="020B0903060703020204" pitchFamily="34" charset="0"/>
            </a:endParaRPr>
          </a:p>
        </p:txBody>
      </p:sp>
      <p:pic>
        <p:nvPicPr>
          <p:cNvPr id="4" name="Content Placeholder 3" descr="pandas.png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8600" y="1981200"/>
            <a:ext cx="1524000" cy="15240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5" name="Picture 4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810000"/>
            <a:ext cx="1600200" cy="1600200"/>
          </a:xfrm>
          <a:prstGeom prst="rect">
            <a:avLst/>
          </a:prstGeom>
        </p:spPr>
      </p:pic>
      <p:pic>
        <p:nvPicPr>
          <p:cNvPr id="7" name="Picture 6" descr="1200px-Scikit_learn_logo_small.svg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57400" y="1828800"/>
            <a:ext cx="2590800" cy="13947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" name="Picture 7" descr="tenser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114800"/>
            <a:ext cx="2313214" cy="1295400"/>
          </a:xfrm>
          <a:prstGeom prst="rect">
            <a:avLst/>
          </a:prstGeom>
        </p:spPr>
      </p:pic>
      <p:pic>
        <p:nvPicPr>
          <p:cNvPr id="9" name="Picture 8" descr="scip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0" y="1828800"/>
            <a:ext cx="2240280" cy="1310640"/>
          </a:xfrm>
          <a:prstGeom prst="rect">
            <a:avLst/>
          </a:prstGeom>
        </p:spPr>
      </p:pic>
      <p:pic>
        <p:nvPicPr>
          <p:cNvPr id="13" name="Picture 12" descr="92254613-279c8000-ee9f-11ea-9b73-5622a7d95f3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0" y="1676400"/>
            <a:ext cx="2133600" cy="2133600"/>
          </a:xfrm>
          <a:prstGeom prst="rect">
            <a:avLst/>
          </a:prstGeom>
        </p:spPr>
      </p:pic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105400" y="4343400"/>
            <a:ext cx="3429000" cy="99441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27759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2"/>
                </a:solidFill>
                <a:latin typeface="Franklin Gothic Heavy" panose="020B0903020102020204" pitchFamily="34" charset="0"/>
              </a:rPr>
              <a:t>STUDY ACCORDING TO A TIMETABLE</a:t>
            </a:r>
            <a:endParaRPr lang="en-US" dirty="0">
              <a:solidFill>
                <a:schemeClr val="accent2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048000"/>
            <a:ext cx="7848600" cy="15240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en-US" sz="4400" dirty="0">
                <a:solidFill>
                  <a:schemeClr val="accent6">
                    <a:lumMod val="75000"/>
                  </a:schemeClr>
                </a:solidFill>
              </a:rPr>
              <a:t>For 2 months study 2-3 hours everyday.</a:t>
            </a:r>
            <a:endParaRPr lang="en-US" sz="44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27759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362200"/>
            <a:ext cx="8305800" cy="2163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  <a:latin typeface="Franklin Gothic Heavy" panose="020B0903020102020204" pitchFamily="34" charset="0"/>
              </a:rPr>
              <a:t>You cannot be a wizard of python in 2 months</a:t>
            </a:r>
            <a:endParaRPr lang="en-US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chemeClr val="accent6">
                  <a:lumMod val="60000"/>
                  <a:lumOff val="40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Franklin Gothic Heavy" panose="020B09030201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27759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subTitle" idx="1"/>
          </p:nvPr>
        </p:nvSpPr>
        <p:spPr>
          <a:xfrm>
            <a:off x="1447800" y="2438400"/>
            <a:ext cx="6400800" cy="17526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4800" dirty="0">
                <a:solidFill>
                  <a:schemeClr val="tx1"/>
                </a:solidFill>
                <a:latin typeface="+mj-lt"/>
              </a:rPr>
              <a:t>METHODS TO REMEMBER CODES</a:t>
            </a:r>
            <a:endParaRPr lang="en-US" sz="48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27759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381000"/>
            <a:ext cx="7239000" cy="1241425"/>
          </a:xfr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b="1" dirty="0">
                <a:solidFill>
                  <a:schemeClr val="tx2"/>
                </a:solidFill>
                <a:latin typeface="Britannic Bold" panose="020B0903060703020204" pitchFamily="34" charset="0"/>
              </a:rPr>
              <a:t>DON’T Cram Codes!</a:t>
            </a:r>
            <a:endParaRPr lang="en-US" b="1" dirty="0">
              <a:solidFill>
                <a:schemeClr val="tx2"/>
              </a:solidFill>
              <a:latin typeface="Britannic Bold" panose="020B0903060703020204" pitchFamily="34" charset="0"/>
            </a:endParaRPr>
          </a:p>
        </p:txBody>
      </p:sp>
      <p:sp>
        <p:nvSpPr>
          <p:cNvPr id="10" name="Title 7"/>
          <p:cNvSpPr txBox="1"/>
          <p:nvPr/>
        </p:nvSpPr>
        <p:spPr>
          <a:xfrm>
            <a:off x="838200" y="2590800"/>
            <a:ext cx="7543800" cy="2209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prstTxWarp prst="textPlain">
              <a:avLst>
                <a:gd name="adj" fmla="val 50214"/>
              </a:avLst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ea typeface="+mj-ea"/>
                <a:cs typeface="+mj-cs"/>
              </a:rPr>
              <a:t>Understand the logic behind the code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53200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229600" cy="1143000"/>
          </a:xfrm>
          <a:solidFill>
            <a:schemeClr val="accent3">
              <a:lumMod val="20000"/>
              <a:lumOff val="80000"/>
            </a:schemeClr>
          </a:solidFill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r>
              <a:rPr lang="en-US" b="1" cap="all" dirty="0"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</a:effectLst>
                <a:latin typeface="Britannic Bold" panose="020B0903060703020204" pitchFamily="34" charset="0"/>
              </a:rPr>
              <a:t> CODE EVERYDAY</a:t>
            </a:r>
            <a:endParaRPr lang="en-US" b="1" cap="all" dirty="0"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</a:effectLst>
              <a:latin typeface="Britannic Bold" panose="020B0903060703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286000"/>
            <a:ext cx="8839200" cy="1638300"/>
          </a:xfrm>
        </p:spPr>
        <p:txBody>
          <a:bodyPr>
            <a:prstTxWarp prst="textPlain">
              <a:avLst/>
            </a:prstTxWarp>
            <a:normAutofit/>
          </a:bodyPr>
          <a:lstStyle/>
          <a:p>
            <a:pPr>
              <a:buNone/>
            </a:pPr>
            <a:r>
              <a:rPr lang="en-US" sz="3600" b="1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Franklin Gothic Heavy" panose="020B0903020102020204" pitchFamily="34" charset="0"/>
              </a:rPr>
              <a:t>Practice exercises related </a:t>
            </a:r>
            <a:endParaRPr lang="en-US" sz="3600" b="1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  <a:latin typeface="Franklin Gothic Heavy" panose="020B0903020102020204" pitchFamily="34" charset="0"/>
            </a:endParaRPr>
          </a:p>
          <a:p>
            <a:pPr>
              <a:buNone/>
            </a:pPr>
            <a:r>
              <a:rPr lang="en-US" sz="3600" b="1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Franklin Gothic Heavy" panose="020B0903020102020204" pitchFamily="34" charset="0"/>
              </a:rPr>
              <a:t>to the topic you are studying</a:t>
            </a:r>
            <a:r>
              <a:rPr lang="en-US" sz="3600" dirty="0">
                <a:solidFill>
                  <a:srgbClr val="00B0F0"/>
                </a:solidFill>
                <a:latin typeface="Franklin Gothic Heavy" panose="020B0903020102020204" pitchFamily="34" charset="0"/>
              </a:rPr>
              <a:t>.</a:t>
            </a:r>
            <a:endParaRPr lang="en-US" sz="3600" dirty="0">
              <a:solidFill>
                <a:srgbClr val="00B0F0"/>
              </a:solidFill>
              <a:latin typeface="Franklin Gothic Heavy" panose="020B09030201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27759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0"/>
            <a:ext cx="8458200" cy="14478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Britannic Bold" panose="020B0903060703020204" pitchFamily="34" charset="0"/>
              </a:rPr>
              <a:t> Learn the applications of the topic you are studying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Britannic Bold" panose="020B0903060703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27759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style>
          <a:lnRef idx="1">
            <a:schemeClr val="dk1"/>
          </a:lnRef>
          <a:fillRef idx="1001">
            <a:schemeClr val="lt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B050"/>
                </a:solidFill>
                <a:latin typeface="Britannic Bold" panose="020B0903060703020204" pitchFamily="34" charset="0"/>
              </a:rPr>
              <a:t>REVISION OF IMPORTANT CONCEPTS EVERYDAY</a:t>
            </a:r>
            <a:endParaRPr lang="en-US" dirty="0">
              <a:solidFill>
                <a:srgbClr val="00B050"/>
              </a:solidFill>
              <a:latin typeface="Britannic Bold" panose="020B0903060703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514600"/>
            <a:ext cx="8153400" cy="25908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r>
              <a:rPr lang="en-US" sz="3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Just give a glance on the important concepts(syntaxes , logical programs etc) everyday.</a:t>
            </a:r>
            <a:endParaRPr lang="en-US" sz="3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3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This will help you remember the codes.</a:t>
            </a:r>
            <a:endParaRPr lang="en-US" sz="3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27759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3200"/>
            <a:ext cx="7391400" cy="11430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GOOGLE </a:t>
            </a:r>
            <a:r>
              <a:rPr lang="en-US" dirty="0">
                <a:solidFill>
                  <a:srgbClr val="FF0000"/>
                </a:solidFill>
              </a:rPr>
              <a:t>IS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>
                <a:solidFill>
                  <a:srgbClr val="FFC000"/>
                </a:solidFill>
              </a:rPr>
              <a:t>YOUR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>
                <a:solidFill>
                  <a:srgbClr val="00B050"/>
                </a:solidFill>
              </a:rPr>
              <a:t>FRIEND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27759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While learning python side-by-side learn Statistics and ML Concepts.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209800"/>
            <a:ext cx="8305800" cy="1219200"/>
          </a:xfrm>
        </p:spPr>
        <p:txBody>
          <a:bodyPr/>
          <a:lstStyle/>
          <a:p>
            <a:pPr>
              <a:buNone/>
            </a:pPr>
            <a:r>
              <a:rPr lang="en-US" b="1" dirty="0"/>
              <a:t>Data Science projects involve machine learning  and statistical concepts.</a:t>
            </a:r>
            <a:endParaRPr lang="en-US" b="1" dirty="0"/>
          </a:p>
          <a:p>
            <a:pPr>
              <a:buNone/>
            </a:pPr>
            <a:endParaRPr lang="en-US" dirty="0"/>
          </a:p>
        </p:txBody>
      </p:sp>
      <p:sp>
        <p:nvSpPr>
          <p:cNvPr id="1026" name="AutoShape 2" descr="Growth statistics circle icon Royalty Free Vector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pic>
        <p:nvPicPr>
          <p:cNvPr id="1028" name="Picture 4" descr="Growth statistics circle icon Royalty Free Vector Image"/>
          <p:cNvPicPr>
            <a:picLocks noChangeAspect="1" noChangeArrowheads="1"/>
          </p:cNvPicPr>
          <p:nvPr/>
        </p:nvPicPr>
        <p:blipFill>
          <a:blip r:embed="rId1" cstate="print"/>
          <a:srcRect l="6367" t="5772" r="5633" b="13488"/>
          <a:stretch>
            <a:fillRect/>
          </a:stretch>
        </p:blipFill>
        <p:spPr bwMode="auto">
          <a:xfrm>
            <a:off x="914400" y="3657600"/>
            <a:ext cx="2230073" cy="2209800"/>
          </a:xfrm>
          <a:prstGeom prst="rect">
            <a:avLst/>
          </a:prstGeom>
          <a:noFill/>
        </p:spPr>
      </p:pic>
      <p:pic>
        <p:nvPicPr>
          <p:cNvPr id="1030" name="Picture 6" descr="Machine Learning Icon In Two Color Design. Red And Black Style.. Royalty  Free Cliparts, Vectors, And Stock Illustration. Image 120744713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3733800"/>
            <a:ext cx="2209800" cy="2209800"/>
          </a:xfrm>
          <a:prstGeom prst="rect">
            <a:avLst/>
          </a:prstGeo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27759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38200" y="0"/>
            <a:ext cx="7543800" cy="1371600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r"/>
            <a:r>
              <a:rPr lang="en-US" dirty="0"/>
              <a:t>ERRORS         			 EXPERIENCE</a:t>
            </a:r>
            <a:br>
              <a:rPr lang="en-US" sz="4000" dirty="0"/>
            </a:br>
            <a:endParaRPr lang="en-US" dirty="0"/>
          </a:p>
        </p:txBody>
      </p:sp>
      <p:sp>
        <p:nvSpPr>
          <p:cNvPr id="11" name="Right Arrow 10"/>
          <p:cNvSpPr/>
          <p:nvPr/>
        </p:nvSpPr>
        <p:spPr>
          <a:xfrm flipV="1">
            <a:off x="3276600" y="0"/>
            <a:ext cx="2133600" cy="838200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676400" y="3352800"/>
            <a:ext cx="5562600" cy="6771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800" dirty="0"/>
              <a:t>DON’T  FEEL DEMOTIVATED</a:t>
            </a:r>
            <a:endParaRPr lang="en-US" sz="3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27759"/>
            <a:ext cx="1143000" cy="36957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514600"/>
            <a:ext cx="8229600" cy="1143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/>
              <a:t>AGE IS JUST A NUMBER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27759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743200"/>
            <a:ext cx="6477000" cy="11430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ROADMAP TO PYHTON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27759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096250" y="6773333"/>
            <a:ext cx="1047750" cy="84667"/>
          </a:xfrm>
          <a:prstGeom prst="rect">
            <a:avLst/>
          </a:prstGeom>
          <a:solidFill>
            <a:srgbClr val="37C9EF"/>
          </a:solidFill>
        </p:spPr>
      </p:sp>
      <p:sp>
        <p:nvSpPr>
          <p:cNvPr id="3" name="AutoShape 3"/>
          <p:cNvSpPr/>
          <p:nvPr/>
        </p:nvSpPr>
        <p:spPr>
          <a:xfrm>
            <a:off x="190500" y="0"/>
            <a:ext cx="8096250" cy="84667"/>
          </a:xfrm>
          <a:prstGeom prst="rect">
            <a:avLst/>
          </a:prstGeom>
          <a:solidFill>
            <a:srgbClr val="37C9EF"/>
          </a:solidFill>
        </p:spPr>
      </p:sp>
      <p:sp>
        <p:nvSpPr>
          <p:cNvPr id="4" name="TextBox 4"/>
          <p:cNvSpPr txBox="1"/>
          <p:nvPr/>
        </p:nvSpPr>
        <p:spPr>
          <a:xfrm>
            <a:off x="285246" y="4751071"/>
            <a:ext cx="1695954" cy="589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30"/>
              </a:lnSpc>
            </a:pPr>
            <a:r>
              <a:rPr lang="en-US" sz="1600" spc="77" dirty="0">
                <a:solidFill>
                  <a:srgbClr val="191919"/>
                </a:solidFill>
                <a:latin typeface="Aileron Regular"/>
              </a:rPr>
              <a:t>INTRODUCTION TO PYTHON</a:t>
            </a:r>
            <a:endParaRPr lang="en-US" sz="1600" spc="77" dirty="0">
              <a:solidFill>
                <a:srgbClr val="191919"/>
              </a:solidFill>
              <a:latin typeface="Aileron Regular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375128" y="3149302"/>
            <a:ext cx="1570284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5"/>
              </a:lnSpc>
            </a:pPr>
            <a:r>
              <a:rPr lang="en-US" sz="1400" spc="72" dirty="0">
                <a:solidFill>
                  <a:srgbClr val="191919"/>
                </a:solidFill>
                <a:latin typeface="Aileron Regular"/>
              </a:rPr>
              <a:t>PYTHON BASICS</a:t>
            </a:r>
            <a:endParaRPr lang="en-US" sz="1400" spc="72" dirty="0">
              <a:solidFill>
                <a:srgbClr val="191919"/>
              </a:solidFill>
              <a:latin typeface="Aileron Regula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544285" y="4776471"/>
            <a:ext cx="1643700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0"/>
              </a:lnSpc>
            </a:pPr>
            <a:r>
              <a:rPr lang="en-US" sz="1500" spc="76" dirty="0">
                <a:solidFill>
                  <a:srgbClr val="191919"/>
                </a:solidFill>
                <a:latin typeface="Aileron Regular"/>
              </a:rPr>
              <a:t>PYTHON DATA STRUCTURES</a:t>
            </a:r>
            <a:endParaRPr lang="en-US" sz="1500" spc="76" dirty="0">
              <a:solidFill>
                <a:srgbClr val="191919"/>
              </a:solidFill>
              <a:latin typeface="Aileron Regular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954405" y="4134909"/>
            <a:ext cx="7235190" cy="35983"/>
          </a:xfrm>
          <a:prstGeom prst="rect">
            <a:avLst/>
          </a:prstGeom>
          <a:solidFill>
            <a:srgbClr val="86EAE9"/>
          </a:solidFill>
        </p:spPr>
      </p:sp>
      <p:sp>
        <p:nvSpPr>
          <p:cNvPr id="8" name="TextBox 8"/>
          <p:cNvSpPr txBox="1"/>
          <p:nvPr/>
        </p:nvSpPr>
        <p:spPr>
          <a:xfrm>
            <a:off x="3814315" y="2710315"/>
            <a:ext cx="1515371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0"/>
              </a:lnSpc>
            </a:pPr>
            <a:r>
              <a:rPr lang="en-US" sz="1400" spc="69" dirty="0">
                <a:solidFill>
                  <a:srgbClr val="191919"/>
                </a:solidFill>
                <a:latin typeface="Aileron Regular"/>
              </a:rPr>
              <a:t>PYTHON PROGRAMMING </a:t>
            </a:r>
            <a:endParaRPr lang="en-US" sz="1400" spc="69" dirty="0">
              <a:solidFill>
                <a:srgbClr val="191919"/>
              </a:solidFill>
              <a:latin typeface="Aileron Regular"/>
            </a:endParaRPr>
          </a:p>
          <a:p>
            <a:pPr algn="ctr">
              <a:lnSpc>
                <a:spcPts val="2090"/>
              </a:lnSpc>
            </a:pPr>
            <a:r>
              <a:rPr lang="en-US" sz="1400" spc="69" dirty="0">
                <a:solidFill>
                  <a:srgbClr val="191919"/>
                </a:solidFill>
                <a:latin typeface="Aileron Regular"/>
              </a:rPr>
              <a:t>FUDAMENTALS</a:t>
            </a:r>
            <a:endParaRPr lang="en-US" sz="1400" spc="69" dirty="0">
              <a:solidFill>
                <a:srgbClr val="191919"/>
              </a:solidFill>
              <a:latin typeface="Aileron Regula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956015" y="4776471"/>
            <a:ext cx="1643700" cy="1474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0"/>
              </a:lnSpc>
            </a:pPr>
            <a:r>
              <a:rPr lang="en-US" sz="1500" spc="76" dirty="0">
                <a:solidFill>
                  <a:srgbClr val="191919"/>
                </a:solidFill>
                <a:latin typeface="Aileron Regular"/>
              </a:rPr>
              <a:t>OBJECT ORIENTED PROGRAMMING(OOPS)</a:t>
            </a:r>
            <a:endParaRPr lang="en-US" sz="1500" spc="76" dirty="0">
              <a:solidFill>
                <a:srgbClr val="191919"/>
              </a:solidFill>
              <a:latin typeface="Aileron Regular"/>
            </a:endParaRPr>
          </a:p>
          <a:p>
            <a:pPr algn="ctr">
              <a:lnSpc>
                <a:spcPts val="2270"/>
              </a:lnSpc>
            </a:pPr>
            <a:r>
              <a:rPr lang="en-US" sz="1500" spc="76" dirty="0">
                <a:solidFill>
                  <a:srgbClr val="191919"/>
                </a:solidFill>
                <a:latin typeface="Aileron Regular"/>
              </a:rPr>
              <a:t>CONCEPT</a:t>
            </a:r>
            <a:endParaRPr lang="en-US" sz="1500" spc="76" dirty="0">
              <a:solidFill>
                <a:srgbClr val="191919"/>
              </a:solidFill>
              <a:latin typeface="Aileron Regula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172200" y="2590800"/>
            <a:ext cx="1654996" cy="1179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5"/>
              </a:lnSpc>
            </a:pPr>
            <a:r>
              <a:rPr lang="en-US" sz="1500" spc="76" dirty="0">
                <a:solidFill>
                  <a:srgbClr val="191919"/>
                </a:solidFill>
                <a:latin typeface="Aileron Regular"/>
              </a:rPr>
              <a:t>FILE HANDLING AND EXCEPTION HANDLING</a:t>
            </a:r>
            <a:endParaRPr lang="en-US" sz="1500" spc="76" dirty="0">
              <a:solidFill>
                <a:srgbClr val="191919"/>
              </a:solidFill>
              <a:latin typeface="Aileron Regula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421542" y="4757420"/>
            <a:ext cx="1536107" cy="242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0"/>
              </a:lnSpc>
            </a:pPr>
            <a:r>
              <a:rPr lang="en-US" sz="1400" spc="71" dirty="0">
                <a:solidFill>
                  <a:srgbClr val="191919"/>
                </a:solidFill>
                <a:latin typeface="Aileron Regular"/>
              </a:rPr>
              <a:t>NUMPY</a:t>
            </a:r>
            <a:endParaRPr lang="en-US" sz="1400" spc="71" dirty="0">
              <a:solidFill>
                <a:srgbClr val="191919"/>
              </a:solidFill>
              <a:latin typeface="Aileron Regular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734378" y="3859530"/>
            <a:ext cx="440055" cy="586740"/>
            <a:chOff x="0" y="0"/>
            <a:chExt cx="1173480" cy="1173480"/>
          </a:xfrm>
        </p:grpSpPr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1173480" cy="117348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266765" y="236008"/>
              <a:ext cx="639949" cy="5899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0"/>
                </a:lnSpc>
              </a:pPr>
              <a:r>
                <a:rPr lang="en-US" spc="90" dirty="0">
                  <a:solidFill>
                    <a:srgbClr val="FFFFFF"/>
                  </a:solidFill>
                  <a:latin typeface="Aileron Regular"/>
                </a:rPr>
                <a:t>1</a:t>
              </a:r>
              <a:endParaRPr lang="en-US" spc="90" dirty="0">
                <a:solidFill>
                  <a:srgbClr val="FFFFFF"/>
                </a:solidFill>
                <a:latin typeface="Aileron Regular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940243" y="3859530"/>
            <a:ext cx="440055" cy="586740"/>
            <a:chOff x="0" y="0"/>
            <a:chExt cx="1173480" cy="1173480"/>
          </a:xfrm>
        </p:grpSpPr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1173480" cy="1173480"/>
            </a:xfrm>
            <a:prstGeom prst="rect">
              <a:avLst/>
            </a:prstGeom>
          </p:spPr>
        </p:pic>
        <p:sp>
          <p:nvSpPr>
            <p:cNvPr id="17" name="TextBox 17"/>
            <p:cNvSpPr txBox="1"/>
            <p:nvPr/>
          </p:nvSpPr>
          <p:spPr>
            <a:xfrm>
              <a:off x="266765" y="236008"/>
              <a:ext cx="639949" cy="5899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0"/>
                </a:lnSpc>
              </a:pPr>
              <a:r>
                <a:rPr lang="en-US" spc="90" dirty="0">
                  <a:solidFill>
                    <a:srgbClr val="FFFFFF"/>
                  </a:solidFill>
                  <a:latin typeface="Aileron Regular"/>
                </a:rPr>
                <a:t>2</a:t>
              </a:r>
              <a:endParaRPr lang="en-US" spc="90" dirty="0">
                <a:solidFill>
                  <a:srgbClr val="FFFFFF"/>
                </a:solidFill>
                <a:latin typeface="Aileron Regular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146108" y="3859530"/>
            <a:ext cx="440055" cy="586740"/>
            <a:chOff x="0" y="0"/>
            <a:chExt cx="1173480" cy="1173480"/>
          </a:xfrm>
        </p:grpSpPr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1173480" cy="1173480"/>
            </a:xfrm>
            <a:prstGeom prst="rect">
              <a:avLst/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266765" y="236008"/>
              <a:ext cx="639949" cy="5899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0"/>
                </a:lnSpc>
              </a:pPr>
              <a:r>
                <a:rPr lang="en-US" spc="90" dirty="0">
                  <a:solidFill>
                    <a:srgbClr val="FFFFFF"/>
                  </a:solidFill>
                  <a:latin typeface="Aileron Regular"/>
                </a:rPr>
                <a:t>3</a:t>
              </a:r>
              <a:endParaRPr lang="en-US" spc="90" dirty="0">
                <a:solidFill>
                  <a:srgbClr val="FFFFFF"/>
                </a:solidFill>
                <a:latin typeface="Aileron Regular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351973" y="3859530"/>
            <a:ext cx="440055" cy="586740"/>
            <a:chOff x="0" y="0"/>
            <a:chExt cx="1173480" cy="1173480"/>
          </a:xfrm>
        </p:grpSpPr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1173480" cy="1173480"/>
            </a:xfrm>
            <a:prstGeom prst="rect">
              <a:avLst/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266765" y="236008"/>
              <a:ext cx="639949" cy="5899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0"/>
                </a:lnSpc>
              </a:pPr>
              <a:r>
                <a:rPr lang="en-US" spc="90" dirty="0">
                  <a:solidFill>
                    <a:srgbClr val="FFFFFF"/>
                  </a:solidFill>
                  <a:latin typeface="Aileron Regular"/>
                </a:rPr>
                <a:t>4</a:t>
              </a:r>
              <a:endParaRPr lang="en-US" spc="90" dirty="0">
                <a:solidFill>
                  <a:srgbClr val="FFFFFF"/>
                </a:solidFill>
                <a:latin typeface="Aileron Regular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557838" y="3859530"/>
            <a:ext cx="440055" cy="586740"/>
            <a:chOff x="0" y="0"/>
            <a:chExt cx="1173480" cy="1173480"/>
          </a:xfrm>
        </p:grpSpPr>
        <p:pic>
          <p:nvPicPr>
            <p:cNvPr id="25" name="Picture 2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1173480" cy="1173480"/>
            </a:xfrm>
            <a:prstGeom prst="rect">
              <a:avLst/>
            </a:prstGeom>
          </p:spPr>
        </p:pic>
        <p:sp>
          <p:nvSpPr>
            <p:cNvPr id="26" name="TextBox 26"/>
            <p:cNvSpPr txBox="1"/>
            <p:nvPr/>
          </p:nvSpPr>
          <p:spPr>
            <a:xfrm>
              <a:off x="266765" y="236008"/>
              <a:ext cx="639949" cy="5899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0"/>
                </a:lnSpc>
              </a:pPr>
              <a:r>
                <a:rPr lang="en-US" spc="90" dirty="0">
                  <a:solidFill>
                    <a:srgbClr val="FFFFFF"/>
                  </a:solidFill>
                  <a:latin typeface="Aileron Regular"/>
                </a:rPr>
                <a:t>5</a:t>
              </a:r>
              <a:endParaRPr lang="en-US" spc="90" dirty="0">
                <a:solidFill>
                  <a:srgbClr val="FFFFFF"/>
                </a:solidFill>
                <a:latin typeface="Aileron Regular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63703" y="3859530"/>
            <a:ext cx="440055" cy="586740"/>
            <a:chOff x="0" y="0"/>
            <a:chExt cx="1173480" cy="1173480"/>
          </a:xfrm>
        </p:grpSpPr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1173480" cy="1173480"/>
            </a:xfrm>
            <a:prstGeom prst="rect">
              <a:avLst/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266765" y="236008"/>
              <a:ext cx="639949" cy="5899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0"/>
                </a:lnSpc>
              </a:pPr>
              <a:r>
                <a:rPr lang="en-US" spc="90" dirty="0">
                  <a:solidFill>
                    <a:srgbClr val="FFFFFF"/>
                  </a:solidFill>
                  <a:latin typeface="Aileron Regular"/>
                </a:rPr>
                <a:t>6</a:t>
              </a:r>
              <a:endParaRPr lang="en-US" spc="90" dirty="0">
                <a:solidFill>
                  <a:srgbClr val="FFFFFF"/>
                </a:solidFill>
                <a:latin typeface="Aileron Regular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969568" y="3840480"/>
            <a:ext cx="440055" cy="586740"/>
            <a:chOff x="0" y="0"/>
            <a:chExt cx="1173480" cy="1173480"/>
          </a:xfrm>
        </p:grpSpPr>
        <p:pic>
          <p:nvPicPr>
            <p:cNvPr id="31" name="Picture 31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1173480" cy="1173480"/>
            </a:xfrm>
            <a:prstGeom prst="rect">
              <a:avLst/>
            </a:prstGeom>
          </p:spPr>
        </p:pic>
        <p:sp>
          <p:nvSpPr>
            <p:cNvPr id="32" name="TextBox 32"/>
            <p:cNvSpPr txBox="1"/>
            <p:nvPr/>
          </p:nvSpPr>
          <p:spPr>
            <a:xfrm>
              <a:off x="266765" y="236008"/>
              <a:ext cx="639949" cy="5899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0"/>
                </a:lnSpc>
              </a:pPr>
              <a:r>
                <a:rPr lang="en-US" spc="90" dirty="0">
                  <a:solidFill>
                    <a:srgbClr val="FFFFFF"/>
                  </a:solidFill>
                  <a:latin typeface="Aileron Regular"/>
                </a:rPr>
                <a:t>7</a:t>
              </a:r>
              <a:endParaRPr lang="en-US" spc="90" dirty="0">
                <a:solidFill>
                  <a:srgbClr val="FFFFFF"/>
                </a:solidFill>
                <a:latin typeface="Aileron Regular"/>
              </a:endParaR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510414" y="792403"/>
            <a:ext cx="6123173" cy="415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5"/>
              </a:lnSpc>
            </a:pPr>
            <a:r>
              <a:rPr lang="en-US" sz="2700" spc="81" dirty="0">
                <a:solidFill>
                  <a:srgbClr val="FF5757"/>
                </a:solidFill>
                <a:latin typeface="Aileron Heavy Bold"/>
              </a:rPr>
              <a:t>ROADMAP</a:t>
            </a:r>
            <a:r>
              <a:rPr lang="en-US" sz="2700" b="1" spc="81" dirty="0">
                <a:solidFill>
                  <a:srgbClr val="FF5757"/>
                </a:solidFill>
                <a:latin typeface="Aileron Heavy Bold"/>
              </a:rPr>
              <a:t> - </a:t>
            </a:r>
            <a:r>
              <a:rPr lang="en-US" sz="2700" spc="81" dirty="0">
                <a:solidFill>
                  <a:srgbClr val="FF5757"/>
                </a:solidFill>
                <a:latin typeface="Aileron Heavy Bold"/>
              </a:rPr>
              <a:t>PYTHON</a:t>
            </a:r>
            <a:endParaRPr lang="en-US" sz="2700" spc="81" dirty="0">
              <a:solidFill>
                <a:srgbClr val="FF5757"/>
              </a:solidFill>
              <a:latin typeface="Aileron Heavy Bold"/>
            </a:endParaRP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27759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096250" y="6773333"/>
            <a:ext cx="1047750" cy="84667"/>
          </a:xfrm>
          <a:prstGeom prst="rect">
            <a:avLst/>
          </a:prstGeom>
          <a:solidFill>
            <a:srgbClr val="37C9EF"/>
          </a:solidFill>
        </p:spPr>
      </p:sp>
      <p:sp>
        <p:nvSpPr>
          <p:cNvPr id="3" name="AutoShape 3"/>
          <p:cNvSpPr/>
          <p:nvPr/>
        </p:nvSpPr>
        <p:spPr>
          <a:xfrm>
            <a:off x="190500" y="0"/>
            <a:ext cx="8096250" cy="84667"/>
          </a:xfrm>
          <a:prstGeom prst="rect">
            <a:avLst/>
          </a:prstGeom>
          <a:solidFill>
            <a:srgbClr val="37C9EF"/>
          </a:solidFill>
        </p:spPr>
      </p:sp>
      <p:sp>
        <p:nvSpPr>
          <p:cNvPr id="4" name="TextBox 4"/>
          <p:cNvSpPr txBox="1"/>
          <p:nvPr/>
        </p:nvSpPr>
        <p:spPr>
          <a:xfrm>
            <a:off x="914400" y="4572000"/>
            <a:ext cx="1695953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30"/>
              </a:lnSpc>
            </a:pPr>
            <a:r>
              <a:rPr lang="en-US" sz="1600" spc="77" dirty="0">
                <a:solidFill>
                  <a:srgbClr val="191919"/>
                </a:solidFill>
                <a:latin typeface="Aileron Regular"/>
              </a:rPr>
              <a:t>DATA MANIPULATION WITH PANDAS</a:t>
            </a:r>
            <a:endParaRPr lang="en-US" sz="1600" spc="77" dirty="0">
              <a:solidFill>
                <a:srgbClr val="191919"/>
              </a:solidFill>
              <a:latin typeface="Aileron Regular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819400" y="3429000"/>
            <a:ext cx="1570284" cy="534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5"/>
              </a:lnSpc>
            </a:pPr>
            <a:r>
              <a:rPr lang="en-US" sz="1400" spc="72" dirty="0">
                <a:solidFill>
                  <a:srgbClr val="191919"/>
                </a:solidFill>
                <a:latin typeface="Aileron Regular"/>
              </a:rPr>
              <a:t>DATA</a:t>
            </a:r>
            <a:endParaRPr lang="en-US" sz="1400" spc="72" dirty="0">
              <a:solidFill>
                <a:srgbClr val="191919"/>
              </a:solidFill>
              <a:latin typeface="Aileron Regular"/>
            </a:endParaRPr>
          </a:p>
          <a:p>
            <a:pPr algn="ctr">
              <a:lnSpc>
                <a:spcPts val="2165"/>
              </a:lnSpc>
            </a:pPr>
            <a:r>
              <a:rPr lang="en-US" sz="1400" spc="72" dirty="0">
                <a:solidFill>
                  <a:srgbClr val="191919"/>
                </a:solidFill>
                <a:latin typeface="Aileron Regular"/>
              </a:rPr>
              <a:t>VISUALIZATION</a:t>
            </a:r>
            <a:endParaRPr lang="en-US" sz="1400" spc="72" dirty="0">
              <a:solidFill>
                <a:srgbClr val="191919"/>
              </a:solidFill>
              <a:latin typeface="Aileron Regula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800600" y="4724400"/>
            <a:ext cx="1951516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70"/>
              </a:lnSpc>
            </a:pPr>
            <a:r>
              <a:rPr lang="en-US" sz="1500" spc="76" dirty="0">
                <a:solidFill>
                  <a:srgbClr val="191919"/>
                </a:solidFill>
                <a:latin typeface="Aileron Regular"/>
              </a:rPr>
              <a:t>STATISTICS,MATHS</a:t>
            </a:r>
            <a:endParaRPr lang="en-US" sz="1500" spc="76" dirty="0">
              <a:solidFill>
                <a:srgbClr val="191919"/>
              </a:solidFill>
              <a:latin typeface="Aileron Regular"/>
            </a:endParaRPr>
          </a:p>
          <a:p>
            <a:pPr algn="ctr">
              <a:lnSpc>
                <a:spcPts val="2270"/>
              </a:lnSpc>
            </a:pPr>
            <a:r>
              <a:rPr lang="en-US" sz="1500" spc="76" dirty="0">
                <a:solidFill>
                  <a:srgbClr val="191919"/>
                </a:solidFill>
                <a:latin typeface="Aileron Regular"/>
              </a:rPr>
              <a:t>WITH</a:t>
            </a:r>
            <a:endParaRPr lang="en-US" sz="1500" spc="76" dirty="0">
              <a:solidFill>
                <a:srgbClr val="191919"/>
              </a:solidFill>
              <a:latin typeface="Aileron Regular"/>
            </a:endParaRPr>
          </a:p>
          <a:p>
            <a:pPr algn="ctr">
              <a:lnSpc>
                <a:spcPts val="2270"/>
              </a:lnSpc>
            </a:pPr>
            <a:r>
              <a:rPr lang="en-US" sz="1500" spc="76" dirty="0">
                <a:solidFill>
                  <a:srgbClr val="191919"/>
                </a:solidFill>
                <a:latin typeface="Aileron Regular"/>
              </a:rPr>
              <a:t>SCIPY</a:t>
            </a:r>
            <a:endParaRPr lang="en-US" sz="1500" spc="76" dirty="0">
              <a:solidFill>
                <a:srgbClr val="191919"/>
              </a:solidFill>
              <a:latin typeface="Aileron Regular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52401" y="4191001"/>
            <a:ext cx="8991600" cy="76200"/>
          </a:xfrm>
          <a:prstGeom prst="rect">
            <a:avLst/>
          </a:prstGeom>
          <a:solidFill>
            <a:srgbClr val="86EAE9"/>
          </a:solidFill>
        </p:spPr>
      </p:sp>
      <p:sp>
        <p:nvSpPr>
          <p:cNvPr id="8" name="TextBox 8"/>
          <p:cNvSpPr txBox="1"/>
          <p:nvPr/>
        </p:nvSpPr>
        <p:spPr>
          <a:xfrm>
            <a:off x="6629400" y="2590800"/>
            <a:ext cx="1981200" cy="13465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90"/>
              </a:lnSpc>
            </a:pPr>
            <a:r>
              <a:rPr lang="en-US" sz="1400" spc="69" dirty="0">
                <a:solidFill>
                  <a:srgbClr val="191919"/>
                </a:solidFill>
                <a:latin typeface="Aileron Regular"/>
              </a:rPr>
              <a:t>MACHINE LEARNING</a:t>
            </a:r>
            <a:endParaRPr lang="en-US" sz="1400" spc="69" dirty="0">
              <a:solidFill>
                <a:srgbClr val="191919"/>
              </a:solidFill>
              <a:latin typeface="Aileron Regular"/>
            </a:endParaRPr>
          </a:p>
          <a:p>
            <a:pPr algn="ctr">
              <a:lnSpc>
                <a:spcPts val="2090"/>
              </a:lnSpc>
            </a:pPr>
            <a:r>
              <a:rPr lang="en-US" sz="1400" spc="69" dirty="0">
                <a:solidFill>
                  <a:srgbClr val="191919"/>
                </a:solidFill>
                <a:latin typeface="Aileron Regular"/>
              </a:rPr>
              <a:t>WITH SCIKIT-LEARN(SKLEARN) AND OTHER LIBRARIES</a:t>
            </a:r>
            <a:endParaRPr lang="en-US" sz="1400" spc="69" dirty="0">
              <a:solidFill>
                <a:srgbClr val="191919"/>
              </a:solidFill>
              <a:latin typeface="Aileron Regular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447800" y="3962400"/>
            <a:ext cx="440055" cy="586740"/>
            <a:chOff x="0" y="0"/>
            <a:chExt cx="1173480" cy="1173480"/>
          </a:xfrm>
        </p:grpSpPr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1173480" cy="117348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266765" y="236008"/>
              <a:ext cx="639949" cy="5475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0"/>
                </a:lnSpc>
              </a:pPr>
              <a:r>
                <a:rPr lang="en-US" spc="90" dirty="0">
                  <a:solidFill>
                    <a:srgbClr val="FFFFFF"/>
                  </a:solidFill>
                  <a:latin typeface="Aileron Regular"/>
                </a:rPr>
                <a:t>8</a:t>
              </a:r>
              <a:endParaRPr lang="en-US" spc="90" dirty="0">
                <a:solidFill>
                  <a:srgbClr val="FFFFFF"/>
                </a:solidFill>
                <a:latin typeface="Aileron Regular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352800" y="3962400"/>
            <a:ext cx="440055" cy="586740"/>
            <a:chOff x="0" y="0"/>
            <a:chExt cx="1173480" cy="1173480"/>
          </a:xfrm>
        </p:grpSpPr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1173480" cy="1173480"/>
            </a:xfrm>
            <a:prstGeom prst="rect">
              <a:avLst/>
            </a:prstGeom>
          </p:spPr>
        </p:pic>
        <p:sp>
          <p:nvSpPr>
            <p:cNvPr id="17" name="TextBox 17"/>
            <p:cNvSpPr txBox="1"/>
            <p:nvPr/>
          </p:nvSpPr>
          <p:spPr>
            <a:xfrm>
              <a:off x="266765" y="236008"/>
              <a:ext cx="639949" cy="5475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0"/>
                </a:lnSpc>
              </a:pPr>
              <a:r>
                <a:rPr lang="en-US" spc="90" dirty="0">
                  <a:solidFill>
                    <a:srgbClr val="FFFFFF"/>
                  </a:solidFill>
                  <a:latin typeface="Aileron Regular"/>
                </a:rPr>
                <a:t>9</a:t>
              </a:r>
              <a:endParaRPr lang="en-US" spc="90" dirty="0">
                <a:solidFill>
                  <a:srgbClr val="FFFFFF"/>
                </a:solidFill>
                <a:latin typeface="Aileron Regular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486400" y="3962400"/>
            <a:ext cx="609600" cy="586740"/>
            <a:chOff x="151552" y="0"/>
            <a:chExt cx="1212426" cy="1173480"/>
          </a:xfrm>
        </p:grpSpPr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51552" y="0"/>
              <a:ext cx="1173479" cy="1173480"/>
            </a:xfrm>
            <a:prstGeom prst="rect">
              <a:avLst/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266765" y="236008"/>
              <a:ext cx="1097213" cy="5899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30"/>
                </a:lnSpc>
              </a:pPr>
              <a:r>
                <a:rPr lang="en-US" spc="90" dirty="0">
                  <a:solidFill>
                    <a:srgbClr val="FFFFFF"/>
                  </a:solidFill>
                  <a:latin typeface="Aileron Regular"/>
                </a:rPr>
                <a:t>10</a:t>
              </a:r>
              <a:endParaRPr lang="en-US" spc="90" dirty="0">
                <a:solidFill>
                  <a:srgbClr val="FFFFFF"/>
                </a:solidFill>
                <a:latin typeface="Aileron Regular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391400" y="3962400"/>
            <a:ext cx="533400" cy="586740"/>
            <a:chOff x="63565" y="0"/>
            <a:chExt cx="1422400" cy="1173480"/>
          </a:xfrm>
        </p:grpSpPr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63565" y="0"/>
              <a:ext cx="1173479" cy="1173480"/>
            </a:xfrm>
            <a:prstGeom prst="rect">
              <a:avLst/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63565" y="304800"/>
              <a:ext cx="1422400" cy="5899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30"/>
                </a:lnSpc>
              </a:pPr>
              <a:r>
                <a:rPr lang="en-US" spc="90" dirty="0">
                  <a:solidFill>
                    <a:srgbClr val="FFFFFF"/>
                  </a:solidFill>
                  <a:latin typeface="Aileron Regular"/>
                </a:rPr>
                <a:t>11</a:t>
              </a:r>
              <a:endParaRPr lang="en-US" spc="90" dirty="0">
                <a:solidFill>
                  <a:srgbClr val="FFFFFF"/>
                </a:solidFill>
                <a:latin typeface="Aileron Regular"/>
              </a:endParaR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510414" y="792403"/>
            <a:ext cx="6123173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5"/>
              </a:lnSpc>
            </a:pPr>
            <a:r>
              <a:rPr lang="en-US" sz="2700" spc="81" dirty="0">
                <a:solidFill>
                  <a:srgbClr val="FF5757"/>
                </a:solidFill>
                <a:latin typeface="Aileron Heavy Bold"/>
              </a:rPr>
              <a:t>ROADMAP - PYTHON</a:t>
            </a:r>
            <a:endParaRPr lang="en-US" sz="2700" spc="81" dirty="0">
              <a:solidFill>
                <a:srgbClr val="FF5757"/>
              </a:solidFill>
              <a:latin typeface="Aileron Heavy Bold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27759"/>
            <a:ext cx="114300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022021"/>
            <a:ext cx="7772400" cy="1470025"/>
          </a:xfrm>
        </p:spPr>
        <p:txBody>
          <a:bodyPr>
            <a:noAutofit/>
          </a:bodyPr>
          <a:lstStyle/>
          <a:p>
            <a:r>
              <a:rPr lang="en-IN" sz="9600" b="1" dirty="0">
                <a:solidFill>
                  <a:srgbClr val="FF0000"/>
                </a:solidFill>
              </a:rPr>
              <a:t>THANK YOU</a:t>
            </a:r>
            <a:endParaRPr lang="en-IN" sz="9600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549" y="609600"/>
            <a:ext cx="5515651" cy="17833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>
        <p:sndAc>
          <p:stSnd>
            <p:snd r:embed="rId2" name="applause.wav"/>
          </p:stSnd>
        </p:sndAc>
      </p:transition>
    </mc:Choice>
    <mc:Fallback>
      <p:transition spd="slow">
        <p:sndAc>
          <p:stSnd>
            <p:snd r:embed="rId2" name="applause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0</TotalTime>
  <Words>5333</Words>
  <Application>WPS Presentation</Application>
  <PresentationFormat>On-screen Show (4:3)</PresentationFormat>
  <Paragraphs>249</Paragraphs>
  <Slides>46</Slides>
  <Notes>5</Notes>
  <HiddenSlides>1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63" baseType="lpstr">
      <vt:lpstr>Arial</vt:lpstr>
      <vt:lpstr>SimSun</vt:lpstr>
      <vt:lpstr>Wingdings</vt:lpstr>
      <vt:lpstr>Corbel</vt:lpstr>
      <vt:lpstr>Verdana</vt:lpstr>
      <vt:lpstr>Calibri</vt:lpstr>
      <vt:lpstr>Microsoft YaHei</vt:lpstr>
      <vt:lpstr>Arial Unicode MS</vt:lpstr>
      <vt:lpstr>Raleway</vt:lpstr>
      <vt:lpstr>Utsaah</vt:lpstr>
      <vt:lpstr>Cooper Black</vt:lpstr>
      <vt:lpstr>Britannic Bold</vt:lpstr>
      <vt:lpstr>Franklin Gothic Heavy</vt:lpstr>
      <vt:lpstr>Aileron Regular</vt:lpstr>
      <vt:lpstr>Segoe Print</vt:lpstr>
      <vt:lpstr>Aileron Heavy Bold</vt:lpstr>
      <vt:lpstr>Office Theme</vt:lpstr>
      <vt:lpstr>WELCOME AT</vt:lpstr>
      <vt:lpstr> WELCOME TO   : A world-class  skill-development &amp; research institute</vt:lpstr>
      <vt:lpstr>PowerPoint 演示文稿</vt:lpstr>
      <vt:lpstr>INTRODUCTION TO PYTHON</vt:lpstr>
      <vt:lpstr>TOPICS TO BE COVERED </vt:lpstr>
      <vt:lpstr>WHAT IS PROGRAMMING ?</vt:lpstr>
      <vt:lpstr>Why is Programming required?</vt:lpstr>
      <vt:lpstr>History of Python</vt:lpstr>
      <vt:lpstr>Father of Python</vt:lpstr>
      <vt:lpstr>Python Characteristics</vt:lpstr>
      <vt:lpstr>PowerPoint 演示文稿</vt:lpstr>
      <vt:lpstr>High Level General Purpose</vt:lpstr>
      <vt:lpstr>Dynamically Typed</vt:lpstr>
      <vt:lpstr>PowerPoint 演示文稿</vt:lpstr>
      <vt:lpstr>PowerPoint 演示文稿</vt:lpstr>
      <vt:lpstr>Why English is not used as a Programming Language?</vt:lpstr>
      <vt:lpstr>WHAT IS PYTHON?</vt:lpstr>
      <vt:lpstr>PowerPoint 演示文稿</vt:lpstr>
      <vt:lpstr>How is Python both a compiled and an Interpreted Language?</vt:lpstr>
      <vt:lpstr>Advantages of both being a compiled and interpreted language</vt:lpstr>
      <vt:lpstr>WHY LEARN PYTHON?</vt:lpstr>
      <vt:lpstr>FEATURES OF PYTHON</vt:lpstr>
      <vt:lpstr>WHERE TO CODE?</vt:lpstr>
      <vt:lpstr>1. INTEGRATED DEVELOPMENT               ENVIRONNMENT(IDE)  Eg – Jupyter Notebook, Pycharm , Spyder etc.</vt:lpstr>
      <vt:lpstr>WHAT IS AN IDE?</vt:lpstr>
      <vt:lpstr>PowerPoint 演示文稿</vt:lpstr>
      <vt:lpstr>WHAT IS A CODE EDITOR?</vt:lpstr>
      <vt:lpstr>CODE EDITOR</vt:lpstr>
      <vt:lpstr>Installing Anaconda</vt:lpstr>
      <vt:lpstr>HOW TO LEARN PYTHON FOR DATA SCIENCE?</vt:lpstr>
      <vt:lpstr>Learn Topics Related to Data Science</vt:lpstr>
      <vt:lpstr>STUDY ACCORDING TO A TIMETABLE</vt:lpstr>
      <vt:lpstr>You cannot be a wizard of python in 2 months</vt:lpstr>
      <vt:lpstr>PowerPoint 演示文稿</vt:lpstr>
      <vt:lpstr>DON’T Cram Codes!</vt:lpstr>
      <vt:lpstr> CODE EVERYDAY</vt:lpstr>
      <vt:lpstr> Learn the applications of the topic you are studying</vt:lpstr>
      <vt:lpstr>REVISION OF IMPORTANT CONCEPTS EVERYDAY</vt:lpstr>
      <vt:lpstr>GOOGLE IS YOUR FRIEND</vt:lpstr>
      <vt:lpstr>While learning python side-by-side learn Statistics and ML Concepts.</vt:lpstr>
      <vt:lpstr>ERRORS         			 EXPERIENCE </vt:lpstr>
      <vt:lpstr>AGE IS JUST A NUMBER</vt:lpstr>
      <vt:lpstr>ROADMAP TO PYHTON</vt:lpstr>
      <vt:lpstr>PowerPoint 演示文稿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PYTHON</dc:title>
  <dc:creator>DELL</dc:creator>
  <cp:lastModifiedBy>Arvind Joshi</cp:lastModifiedBy>
  <cp:revision>599</cp:revision>
  <dcterms:created xsi:type="dcterms:W3CDTF">2021-06-04T08:21:00Z</dcterms:created>
  <dcterms:modified xsi:type="dcterms:W3CDTF">2024-07-09T07:06:34Z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43F8195F6BB04721996FD418BA50128F_12</vt:lpwstr>
  </property>
  <property fmtid="{D5CDD505-2E9C-101B-9397-08002B2CF9AE}" pid="3" name="KSOProductBuildVer">
    <vt:lpwstr>1033-12.2.0.17152</vt:lpwstr>
  </property>
</Properties>
</file>